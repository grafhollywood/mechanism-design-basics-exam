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5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12" Type="http://schemas.openxmlformats.org/officeDocument/2006/relationships/image" Target="../media/image14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4639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422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1362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0201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8751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9432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794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58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6624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2509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0999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Заголовок и 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sz="quarter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ru-RU" altLang="ru-RU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CF77DC76-A04D-442D-8C7F-925E250141C2}" type="slidenum">
              <a:rPr lang="ru-RU" altLang="ru-RU"/>
              <a:pPr/>
              <a:t>‹#›</a:t>
            </a:fld>
            <a:endParaRPr lang="ru-RU" altLang="ru-RU" dirty="0"/>
          </a:p>
        </p:txBody>
      </p:sp>
      <p:sp>
        <p:nvSpPr>
          <p:cNvPr id="9" name="Дата 8"/>
          <p:cNvSpPr>
            <a:spLocks noGrp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64654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283A8-5F1E-4340-BC4F-B996DE11D4FB}" type="datetimeFigureOut">
              <a:rPr lang="ru-RU" smtClean="0"/>
              <a:t>25.06.2020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EF5ED-2D85-4562-A8F3-F0B0688B4C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7535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0.wmf"/><Relationship Id="rId26" Type="http://schemas.openxmlformats.org/officeDocument/2006/relationships/image" Target="../media/image14.wmf"/><Relationship Id="rId3" Type="http://schemas.openxmlformats.org/officeDocument/2006/relationships/oleObject" Target="../embeddings/oleObject3.bin"/><Relationship Id="rId21" Type="http://schemas.openxmlformats.org/officeDocument/2006/relationships/oleObject" Target="../embeddings/oleObject12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0.bin"/><Relationship Id="rId25" Type="http://schemas.openxmlformats.org/officeDocument/2006/relationships/oleObject" Target="../embeddings/oleObject1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9.wmf"/><Relationship Id="rId20" Type="http://schemas.openxmlformats.org/officeDocument/2006/relationships/image" Target="../media/image1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24" Type="http://schemas.openxmlformats.org/officeDocument/2006/relationships/image" Target="../media/image13.wmf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23" Type="http://schemas.openxmlformats.org/officeDocument/2006/relationships/oleObject" Target="../embeddings/oleObject13.bin"/><Relationship Id="rId28" Type="http://schemas.openxmlformats.org/officeDocument/2006/relationships/image" Target="../media/image15.wmf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11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8.wmf"/><Relationship Id="rId22" Type="http://schemas.openxmlformats.org/officeDocument/2006/relationships/image" Target="../media/image12.wmf"/><Relationship Id="rId27" Type="http://schemas.openxmlformats.org/officeDocument/2006/relationships/oleObject" Target="../embeddings/oleObject1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18.emf"/><Relationship Id="rId4" Type="http://schemas.openxmlformats.org/officeDocument/2006/relationships/image" Target="../media/image20.png"/><Relationship Id="rId9" Type="http://schemas.openxmlformats.org/officeDocument/2006/relationships/oleObject" Target="../embeddings/oleObject1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23261" y="107224"/>
            <a:ext cx="9144000" cy="590200"/>
          </a:xfrm>
        </p:spPr>
        <p:txBody>
          <a:bodyPr>
            <a:noAutofit/>
          </a:bodyPr>
          <a:lstStyle/>
          <a:p>
            <a:r>
              <a:rPr lang="ru-RU" sz="4000" dirty="0"/>
              <a:t>Распределенная нагрузка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11444" y="736168"/>
            <a:ext cx="20109792" cy="47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858439"/>
              </p:ext>
            </p:extLst>
          </p:nvPr>
        </p:nvGraphicFramePr>
        <p:xfrm>
          <a:off x="302216" y="759711"/>
          <a:ext cx="4316279" cy="2165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Visio" r:id="rId3" imgW="4775835" imgH="2386965" progId="Visio.Drawing.11">
                  <p:embed/>
                </p:oleObj>
              </mc:Choice>
              <mc:Fallback>
                <p:oleObj name="Visio" r:id="rId3" imgW="4775835" imgH="238696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16" y="759711"/>
                        <a:ext cx="4316279" cy="21659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57248" y="697424"/>
            <a:ext cx="6096000" cy="54722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49580" algn="just"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latin typeface="+mj-lt"/>
              </a:rPr>
              <a:t>а) равномерно распределенная нагрузка.</a:t>
            </a:r>
            <a:endParaRPr lang="ru-RU" sz="1600" b="1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Интенсивность </a:t>
            </a:r>
            <a:r>
              <a:rPr lang="en-US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такой нагрузки является постоянной величиной. При статических расчетах распределенную систему параллельных сил, направленных в одну сторону, можно заменить равнодействующей </a:t>
            </a:r>
            <a:r>
              <a:rPr lang="en-US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направленной в ту же сторону.</a:t>
            </a:r>
          </a:p>
          <a:p>
            <a:pPr indent="449580" algn="just">
              <a:lnSpc>
                <a:spcPct val="115000"/>
              </a:lnSpc>
            </a:pP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Равнодействующая </a:t>
            </a:r>
            <a:r>
              <a:rPr lang="en-US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равномерно распределенной нагрузки приложена в середине отрезка АВ, направлена в ту же сторону и равна по величине </a:t>
            </a:r>
            <a:r>
              <a:rPr lang="en-US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6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ql</a:t>
            </a: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1600" dirty="0"/>
              <a:t> </a:t>
            </a:r>
          </a:p>
          <a:p>
            <a:pPr indent="449580" algn="just">
              <a:lnSpc>
                <a:spcPct val="115000"/>
              </a:lnSpc>
            </a:pPr>
            <a:endParaRPr lang="ru-RU" sz="1600" b="1" dirty="0">
              <a:latin typeface="+mj-lt"/>
            </a:endParaRPr>
          </a:p>
          <a:p>
            <a:pPr indent="449580" algn="just">
              <a:lnSpc>
                <a:spcPct val="115000"/>
              </a:lnSpc>
            </a:pPr>
            <a:endParaRPr lang="ru-RU" sz="1600" b="1" dirty="0">
              <a:latin typeface="+mj-lt"/>
            </a:endParaRPr>
          </a:p>
          <a:p>
            <a:pPr indent="449580" algn="just">
              <a:lnSpc>
                <a:spcPct val="115000"/>
              </a:lnSpc>
            </a:pPr>
            <a:endParaRPr lang="ru-RU" sz="1600" b="1" dirty="0">
              <a:latin typeface="+mj-lt"/>
            </a:endParaRPr>
          </a:p>
          <a:p>
            <a:pPr indent="449580" algn="just">
              <a:lnSpc>
                <a:spcPct val="115000"/>
              </a:lnSpc>
            </a:pPr>
            <a:r>
              <a:rPr lang="ru-RU" sz="1600" b="1" dirty="0">
                <a:latin typeface="+mj-lt"/>
              </a:rPr>
              <a:t>б) нагрузка, распределенная по линейному закону. Для этой нагрузки ее интенсивность </a:t>
            </a:r>
            <a:r>
              <a:rPr lang="en-US" sz="1600" b="1" dirty="0">
                <a:latin typeface="+mj-lt"/>
              </a:rPr>
              <a:t>q</a:t>
            </a:r>
            <a:r>
              <a:rPr lang="ru-RU" sz="1600" b="1" dirty="0">
                <a:latin typeface="+mj-lt"/>
              </a:rPr>
              <a:t> изменяется от нуля до максимального значения </a:t>
            </a:r>
            <a:r>
              <a:rPr lang="en-US" sz="1600" b="1" dirty="0" err="1">
                <a:latin typeface="+mj-lt"/>
              </a:rPr>
              <a:t>q</a:t>
            </a:r>
            <a:r>
              <a:rPr lang="en-US" sz="1600" b="1" baseline="-25000" dirty="0" err="1">
                <a:latin typeface="+mj-lt"/>
              </a:rPr>
              <a:t>max</a:t>
            </a:r>
            <a:r>
              <a:rPr lang="ru-RU" sz="1600" b="1" dirty="0">
                <a:latin typeface="+mj-lt"/>
              </a:rPr>
              <a:t>. </a:t>
            </a:r>
          </a:p>
          <a:p>
            <a:pPr indent="449580" algn="just">
              <a:lnSpc>
                <a:spcPct val="115000"/>
              </a:lnSpc>
            </a:pPr>
            <a:r>
              <a:rPr lang="ru-RU" sz="1600" b="1" dirty="0">
                <a:latin typeface="+mj-lt"/>
              </a:rPr>
              <a:t>Равнодействующая </a:t>
            </a:r>
            <a:r>
              <a:rPr lang="en-US" sz="1600" b="1" dirty="0">
                <a:latin typeface="+mj-lt"/>
              </a:rPr>
              <a:t>Q</a:t>
            </a:r>
            <a:r>
              <a:rPr lang="ru-RU" sz="1600" b="1" dirty="0">
                <a:latin typeface="+mj-lt"/>
              </a:rPr>
              <a:t> этих сил приложена к отрезку АВ на расстоянии </a:t>
            </a:r>
            <a:r>
              <a:rPr lang="en-US" sz="1600" b="1" dirty="0">
                <a:latin typeface="+mj-lt"/>
              </a:rPr>
              <a:t>l</a:t>
            </a:r>
            <a:r>
              <a:rPr lang="ru-RU" sz="1600" b="1" dirty="0">
                <a:latin typeface="+mj-lt"/>
              </a:rPr>
              <a:t>/3 от точки В, в которой интенсивность распределенной нагрузки достигает своего максимального значения. Величина равнодействующей </a:t>
            </a:r>
            <a:r>
              <a:rPr lang="en-US" sz="1600" b="1" dirty="0">
                <a:latin typeface="+mj-lt"/>
              </a:rPr>
              <a:t>Q</a:t>
            </a:r>
            <a:r>
              <a:rPr lang="ru-RU" sz="1600" b="1" dirty="0">
                <a:latin typeface="+mj-lt"/>
              </a:rPr>
              <a:t>=(</a:t>
            </a:r>
            <a:r>
              <a:rPr lang="en-US" sz="1600" b="1" dirty="0" err="1">
                <a:latin typeface="+mj-lt"/>
              </a:rPr>
              <a:t>q</a:t>
            </a:r>
            <a:r>
              <a:rPr lang="en-US" sz="1600" b="1" baseline="-25000" dirty="0" err="1">
                <a:latin typeface="+mj-lt"/>
              </a:rPr>
              <a:t>max</a:t>
            </a:r>
            <a:r>
              <a:rPr lang="ru-RU" sz="1600" b="1" dirty="0">
                <a:latin typeface="+mj-lt"/>
              </a:rPr>
              <a:t>*</a:t>
            </a:r>
            <a:r>
              <a:rPr lang="en-US" sz="1600" b="1" dirty="0">
                <a:latin typeface="+mj-lt"/>
              </a:rPr>
              <a:t>l</a:t>
            </a:r>
            <a:r>
              <a:rPr lang="ru-RU" sz="1600" b="1" dirty="0">
                <a:latin typeface="+mj-lt"/>
              </a:rPr>
              <a:t>)/</a:t>
            </a:r>
            <a:r>
              <a:rPr lang="en-US" sz="1600" b="1" dirty="0">
                <a:latin typeface="+mj-lt"/>
              </a:rPr>
              <a:t>2</a:t>
            </a:r>
            <a:r>
              <a:rPr lang="ru-RU" sz="1600" b="1" dirty="0">
                <a:latin typeface="+mj-lt"/>
              </a:rPr>
              <a:t>.</a:t>
            </a:r>
          </a:p>
          <a:p>
            <a:pPr indent="449580" algn="just">
              <a:lnSpc>
                <a:spcPct val="115000"/>
              </a:lnSpc>
              <a:spcAft>
                <a:spcPts val="0"/>
              </a:spcAft>
            </a:pPr>
            <a:endParaRPr lang="ru-RU" sz="16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 flipV="1">
            <a:off x="511444" y="5106691"/>
            <a:ext cx="78307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230840"/>
              </p:ext>
            </p:extLst>
          </p:nvPr>
        </p:nvGraphicFramePr>
        <p:xfrm>
          <a:off x="61992" y="3456123"/>
          <a:ext cx="4331777" cy="260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Visio" r:id="rId5" imgW="4973955" imgH="2419350" progId="Visio.Drawing.11">
                  <p:embed/>
                </p:oleObj>
              </mc:Choice>
              <mc:Fallback>
                <p:oleObj name="Visio" r:id="rId5" imgW="4973955" imgH="241935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2" y="3456123"/>
                        <a:ext cx="4331777" cy="2600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851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154" name="Group 250"/>
          <p:cNvGrpSpPr>
            <a:grpSpLocks/>
          </p:cNvGrpSpPr>
          <p:nvPr/>
        </p:nvGrpSpPr>
        <p:grpSpPr bwMode="auto">
          <a:xfrm>
            <a:off x="5695950" y="3573463"/>
            <a:ext cx="1479550" cy="360362"/>
            <a:chOff x="225" y="2273"/>
            <a:chExt cx="932" cy="227"/>
          </a:xfrm>
        </p:grpSpPr>
        <p:sp>
          <p:nvSpPr>
            <p:cNvPr id="252155" name="AutoShape 251"/>
            <p:cNvSpPr>
              <a:spLocks noChangeArrowheads="1"/>
            </p:cNvSpPr>
            <p:nvPr/>
          </p:nvSpPr>
          <p:spPr bwMode="auto">
            <a:xfrm flipV="1">
              <a:off x="227" y="2387"/>
              <a:ext cx="227" cy="113"/>
            </a:xfrm>
            <a:prstGeom prst="triangle">
              <a:avLst>
                <a:gd name="adj" fmla="val 50000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56" name="Rectangle 252"/>
            <p:cNvSpPr>
              <a:spLocks noChangeArrowheads="1"/>
            </p:cNvSpPr>
            <p:nvPr/>
          </p:nvSpPr>
          <p:spPr bwMode="auto">
            <a:xfrm>
              <a:off x="225" y="2273"/>
              <a:ext cx="932" cy="15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grpSp>
        <p:nvGrpSpPr>
          <p:cNvPr id="252107" name="Group 203"/>
          <p:cNvGrpSpPr>
            <a:grpSpLocks/>
          </p:cNvGrpSpPr>
          <p:nvPr/>
        </p:nvGrpSpPr>
        <p:grpSpPr bwMode="auto">
          <a:xfrm>
            <a:off x="5087939" y="2097088"/>
            <a:ext cx="1512887" cy="576262"/>
            <a:chOff x="2245" y="1910"/>
            <a:chExt cx="953" cy="363"/>
          </a:xfrm>
        </p:grpSpPr>
        <p:sp>
          <p:nvSpPr>
            <p:cNvPr id="252100" name="Rectangle 196"/>
            <p:cNvSpPr>
              <a:spLocks noChangeArrowheads="1"/>
            </p:cNvSpPr>
            <p:nvPr/>
          </p:nvSpPr>
          <p:spPr bwMode="auto">
            <a:xfrm>
              <a:off x="2245" y="2181"/>
              <a:ext cx="953" cy="92"/>
            </a:xfrm>
            <a:prstGeom prst="rect">
              <a:avLst/>
            </a:prstGeom>
            <a:solidFill>
              <a:srgbClr val="C0C0C0">
                <a:alpha val="20000"/>
              </a:srgbClr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01" name="Rectangle 197"/>
            <p:cNvSpPr>
              <a:spLocks noChangeArrowheads="1"/>
            </p:cNvSpPr>
            <p:nvPr/>
          </p:nvSpPr>
          <p:spPr bwMode="auto">
            <a:xfrm rot="16200000" flipH="1">
              <a:off x="2165" y="2012"/>
              <a:ext cx="251" cy="91"/>
            </a:xfrm>
            <a:prstGeom prst="rect">
              <a:avLst/>
            </a:prstGeom>
            <a:solidFill>
              <a:srgbClr val="C0C0C0">
                <a:alpha val="20000"/>
              </a:srgbClr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02" name="Rectangle 198"/>
            <p:cNvSpPr>
              <a:spLocks noChangeArrowheads="1"/>
            </p:cNvSpPr>
            <p:nvPr/>
          </p:nvSpPr>
          <p:spPr bwMode="auto">
            <a:xfrm rot="16200000" flipH="1">
              <a:off x="3016" y="2001"/>
              <a:ext cx="272" cy="90"/>
            </a:xfrm>
            <a:prstGeom prst="rect">
              <a:avLst/>
            </a:prstGeom>
            <a:solidFill>
              <a:srgbClr val="C0C0C0">
                <a:alpha val="20000"/>
              </a:srgbClr>
            </a:soli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03" name="Line 199"/>
            <p:cNvSpPr>
              <a:spLocks noChangeShapeType="1"/>
            </p:cNvSpPr>
            <p:nvPr/>
          </p:nvSpPr>
          <p:spPr bwMode="auto">
            <a:xfrm>
              <a:off x="2336" y="2182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52104" name="Line 200"/>
            <p:cNvSpPr>
              <a:spLocks noChangeShapeType="1"/>
            </p:cNvSpPr>
            <p:nvPr/>
          </p:nvSpPr>
          <p:spPr bwMode="auto">
            <a:xfrm>
              <a:off x="2336" y="1932"/>
              <a:ext cx="0" cy="2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52105" name="Line 201"/>
            <p:cNvSpPr>
              <a:spLocks noChangeShapeType="1"/>
            </p:cNvSpPr>
            <p:nvPr/>
          </p:nvSpPr>
          <p:spPr bwMode="auto">
            <a:xfrm flipV="1">
              <a:off x="3107" y="191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52106" name="Line 202"/>
            <p:cNvSpPr>
              <a:spLocks noChangeShapeType="1"/>
            </p:cNvSpPr>
            <p:nvPr/>
          </p:nvSpPr>
          <p:spPr bwMode="auto">
            <a:xfrm flipH="1">
              <a:off x="2245" y="1931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51992" name="AutoShape 88"/>
          <p:cNvSpPr>
            <a:spLocks noChangeArrowheads="1"/>
          </p:cNvSpPr>
          <p:nvPr/>
        </p:nvSpPr>
        <p:spPr bwMode="auto">
          <a:xfrm>
            <a:off x="2530476" y="2133601"/>
            <a:ext cx="720725" cy="900113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solidFill>
              <a:srgbClr val="00FFFF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51991" name="AutoShape 87"/>
          <p:cNvSpPr>
            <a:spLocks noChangeArrowheads="1"/>
          </p:cNvSpPr>
          <p:nvPr/>
        </p:nvSpPr>
        <p:spPr bwMode="auto">
          <a:xfrm>
            <a:off x="1703389" y="2133601"/>
            <a:ext cx="720725" cy="900113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solidFill>
              <a:srgbClr val="00FFFF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51907" name="Rectangle 3"/>
          <p:cNvSpPr>
            <a:spLocks noChangeArrowheads="1"/>
          </p:cNvSpPr>
          <p:nvPr/>
        </p:nvSpPr>
        <p:spPr bwMode="auto">
          <a:xfrm>
            <a:off x="1270794" y="813511"/>
            <a:ext cx="3240087" cy="72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000" b="1" dirty="0"/>
          </a:p>
          <a:p>
            <a:pPr>
              <a:lnSpc>
                <a:spcPct val="80000"/>
              </a:lnSpc>
            </a:pPr>
            <a:r>
              <a:rPr lang="ru-RU" altLang="ru-RU" sz="1000" b="1" dirty="0"/>
              <a:t>Связи и реакции связей (продолжение)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ru-RU" altLang="ru-RU" sz="1000" i="1" dirty="0"/>
              <a:t>Виды связей и их реакции</a:t>
            </a:r>
            <a:r>
              <a:rPr lang="en-US" altLang="ru-RU" sz="1000" i="1" dirty="0"/>
              <a:t>:</a:t>
            </a:r>
            <a:endParaRPr lang="ru-RU" altLang="ru-RU" sz="1000" i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ru-RU" sz="1000" dirty="0"/>
              <a:t>1. </a:t>
            </a:r>
            <a:r>
              <a:rPr lang="ru-RU" altLang="ru-RU" sz="1200" dirty="0">
                <a:solidFill>
                  <a:srgbClr val="FF0000"/>
                </a:solidFill>
              </a:rPr>
              <a:t>Нить</a:t>
            </a:r>
            <a:r>
              <a:rPr lang="ru-RU" altLang="ru-RU" sz="1000" dirty="0">
                <a:solidFill>
                  <a:srgbClr val="FF0000"/>
                </a:solidFill>
              </a:rPr>
              <a:t>, </a:t>
            </a:r>
            <a:r>
              <a:rPr lang="ru-RU" altLang="ru-RU" sz="1200" dirty="0">
                <a:solidFill>
                  <a:srgbClr val="FF0000"/>
                </a:solidFill>
              </a:rPr>
              <a:t>шарнирный</a:t>
            </a:r>
            <a:r>
              <a:rPr lang="ru-RU" altLang="ru-RU" sz="1000" dirty="0">
                <a:solidFill>
                  <a:srgbClr val="FF0000"/>
                </a:solidFill>
              </a:rPr>
              <a:t> </a:t>
            </a:r>
            <a:r>
              <a:rPr lang="ru-RU" altLang="ru-RU" sz="1200" dirty="0">
                <a:solidFill>
                  <a:srgbClr val="FF0000"/>
                </a:solidFill>
              </a:rPr>
              <a:t>стержень</a:t>
            </a:r>
            <a:r>
              <a:rPr lang="en-US" altLang="ru-RU" sz="1000" dirty="0">
                <a:solidFill>
                  <a:srgbClr val="FF0000"/>
                </a:solidFill>
              </a:rPr>
              <a:t>:</a:t>
            </a:r>
            <a:endParaRPr lang="ru-RU" altLang="ru-RU" sz="10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ru-RU" altLang="ru-RU" sz="1200" dirty="0"/>
          </a:p>
        </p:txBody>
      </p:sp>
      <p:sp>
        <p:nvSpPr>
          <p:cNvPr id="251927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51968" name="Oval 64"/>
          <p:cNvSpPr>
            <a:spLocks noChangeArrowheads="1"/>
          </p:cNvSpPr>
          <p:nvPr/>
        </p:nvSpPr>
        <p:spPr bwMode="auto">
          <a:xfrm>
            <a:off x="1919288" y="2312988"/>
            <a:ext cx="360362" cy="32385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grpSp>
        <p:nvGrpSpPr>
          <p:cNvPr id="252065" name="Group 161"/>
          <p:cNvGrpSpPr>
            <a:grpSpLocks/>
          </p:cNvGrpSpPr>
          <p:nvPr/>
        </p:nvGrpSpPr>
        <p:grpSpPr bwMode="auto">
          <a:xfrm>
            <a:off x="1811338" y="1557338"/>
            <a:ext cx="576262" cy="755650"/>
            <a:chOff x="181" y="981"/>
            <a:chExt cx="363" cy="476"/>
          </a:xfrm>
        </p:grpSpPr>
        <p:grpSp>
          <p:nvGrpSpPr>
            <p:cNvPr id="252063" name="Group 159"/>
            <p:cNvGrpSpPr>
              <a:grpSpLocks/>
            </p:cNvGrpSpPr>
            <p:nvPr/>
          </p:nvGrpSpPr>
          <p:grpSpPr bwMode="auto">
            <a:xfrm>
              <a:off x="181" y="981"/>
              <a:ext cx="363" cy="476"/>
              <a:chOff x="181" y="981"/>
              <a:chExt cx="363" cy="476"/>
            </a:xfrm>
          </p:grpSpPr>
          <p:sp>
            <p:nvSpPr>
              <p:cNvPr id="251978" name="Line 74"/>
              <p:cNvSpPr>
                <a:spLocks noChangeShapeType="1"/>
              </p:cNvSpPr>
              <p:nvPr/>
            </p:nvSpPr>
            <p:spPr bwMode="auto">
              <a:xfrm>
                <a:off x="363" y="1049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1980" name="Rectangle 76"/>
              <p:cNvSpPr>
                <a:spLocks noChangeArrowheads="1"/>
              </p:cNvSpPr>
              <p:nvPr/>
            </p:nvSpPr>
            <p:spPr bwMode="auto">
              <a:xfrm>
                <a:off x="181" y="981"/>
                <a:ext cx="363" cy="68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sp>
          <p:nvSpPr>
            <p:cNvPr id="251981" name="Line 77"/>
            <p:cNvSpPr>
              <a:spLocks noChangeShapeType="1"/>
            </p:cNvSpPr>
            <p:nvPr/>
          </p:nvSpPr>
          <p:spPr bwMode="auto">
            <a:xfrm>
              <a:off x="181" y="1049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51982" name="Oval 78"/>
          <p:cNvSpPr>
            <a:spLocks noChangeArrowheads="1"/>
          </p:cNvSpPr>
          <p:nvPr/>
        </p:nvSpPr>
        <p:spPr bwMode="auto">
          <a:xfrm>
            <a:off x="2638426" y="2312988"/>
            <a:ext cx="360363" cy="32385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grpSp>
        <p:nvGrpSpPr>
          <p:cNvPr id="252066" name="Group 162"/>
          <p:cNvGrpSpPr>
            <a:grpSpLocks/>
          </p:cNvGrpSpPr>
          <p:nvPr/>
        </p:nvGrpSpPr>
        <p:grpSpPr bwMode="auto">
          <a:xfrm>
            <a:off x="2530476" y="1557338"/>
            <a:ext cx="576263" cy="755650"/>
            <a:chOff x="634" y="981"/>
            <a:chExt cx="363" cy="476"/>
          </a:xfrm>
        </p:grpSpPr>
        <p:grpSp>
          <p:nvGrpSpPr>
            <p:cNvPr id="252064" name="Group 160"/>
            <p:cNvGrpSpPr>
              <a:grpSpLocks/>
            </p:cNvGrpSpPr>
            <p:nvPr/>
          </p:nvGrpSpPr>
          <p:grpSpPr bwMode="auto">
            <a:xfrm>
              <a:off x="634" y="981"/>
              <a:ext cx="363" cy="476"/>
              <a:chOff x="634" y="981"/>
              <a:chExt cx="363" cy="476"/>
            </a:xfrm>
          </p:grpSpPr>
          <p:sp>
            <p:nvSpPr>
              <p:cNvPr id="251983" name="Oval 79"/>
              <p:cNvSpPr>
                <a:spLocks noChangeArrowheads="1"/>
              </p:cNvSpPr>
              <p:nvPr/>
            </p:nvSpPr>
            <p:spPr bwMode="auto">
              <a:xfrm>
                <a:off x="793" y="1049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1984" name="Line 80"/>
              <p:cNvSpPr>
                <a:spLocks noChangeShapeType="1"/>
              </p:cNvSpPr>
              <p:nvPr/>
            </p:nvSpPr>
            <p:spPr bwMode="auto">
              <a:xfrm>
                <a:off x="815" y="1094"/>
                <a:ext cx="1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1985" name="Oval 81"/>
              <p:cNvSpPr>
                <a:spLocks noChangeArrowheads="1"/>
              </p:cNvSpPr>
              <p:nvPr/>
            </p:nvSpPr>
            <p:spPr bwMode="auto">
              <a:xfrm>
                <a:off x="793" y="1412"/>
                <a:ext cx="45" cy="4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1986" name="Rectangle 82"/>
              <p:cNvSpPr>
                <a:spLocks noChangeArrowheads="1"/>
              </p:cNvSpPr>
              <p:nvPr/>
            </p:nvSpPr>
            <p:spPr bwMode="auto">
              <a:xfrm>
                <a:off x="634" y="981"/>
                <a:ext cx="363" cy="68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sp>
          <p:nvSpPr>
            <p:cNvPr id="251987" name="Line 83"/>
            <p:cNvSpPr>
              <a:spLocks noChangeShapeType="1"/>
            </p:cNvSpPr>
            <p:nvPr/>
          </p:nvSpPr>
          <p:spPr bwMode="auto">
            <a:xfrm>
              <a:off x="634" y="1049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51988" name="AutoShape 84"/>
          <p:cNvSpPr>
            <a:spLocks noChangeArrowheads="1"/>
          </p:cNvSpPr>
          <p:nvPr/>
        </p:nvSpPr>
        <p:spPr bwMode="auto">
          <a:xfrm rot="16200000" flipH="1">
            <a:off x="1851819" y="2632869"/>
            <a:ext cx="495300" cy="144462"/>
          </a:xfrm>
          <a:prstGeom prst="rightArrow">
            <a:avLst>
              <a:gd name="adj1" fmla="val 50000"/>
              <a:gd name="adj2" fmla="val 8571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ru-RU" altLang="ru-RU"/>
          </a:p>
        </p:txBody>
      </p:sp>
      <p:sp>
        <p:nvSpPr>
          <p:cNvPr id="251989" name="AutoShape 85"/>
          <p:cNvSpPr>
            <a:spLocks noChangeArrowheads="1"/>
          </p:cNvSpPr>
          <p:nvPr/>
        </p:nvSpPr>
        <p:spPr bwMode="auto">
          <a:xfrm rot="16200000" flipH="1">
            <a:off x="2570957" y="2632869"/>
            <a:ext cx="495300" cy="144463"/>
          </a:xfrm>
          <a:prstGeom prst="rightArrow">
            <a:avLst>
              <a:gd name="adj1" fmla="val 50000"/>
              <a:gd name="adj2" fmla="val 8571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ru-RU" altLang="ru-RU"/>
          </a:p>
        </p:txBody>
      </p:sp>
      <p:grpSp>
        <p:nvGrpSpPr>
          <p:cNvPr id="252067" name="Group 163"/>
          <p:cNvGrpSpPr>
            <a:grpSpLocks/>
          </p:cNvGrpSpPr>
          <p:nvPr/>
        </p:nvGrpSpPr>
        <p:grpSpPr bwMode="auto">
          <a:xfrm>
            <a:off x="2027248" y="1808163"/>
            <a:ext cx="355601" cy="495300"/>
            <a:chOff x="1292" y="1139"/>
            <a:chExt cx="224" cy="312"/>
          </a:xfrm>
        </p:grpSpPr>
        <p:graphicFrame>
          <p:nvGraphicFramePr>
            <p:cNvPr id="25191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1599973"/>
                </p:ext>
              </p:extLst>
            </p:nvPr>
          </p:nvGraphicFramePr>
          <p:xfrm>
            <a:off x="1415" y="1194"/>
            <a:ext cx="101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" name="Уравнение" r:id="rId3" imgW="139680" imgH="164880" progId="Equation.3">
                    <p:embed/>
                  </p:oleObj>
                </mc:Choice>
                <mc:Fallback>
                  <p:oleObj name="Уравнение" r:id="rId3" imgW="139680" imgH="164880" progId="Equation.3">
                    <p:embed/>
                    <p:pic>
                      <p:nvPicPr>
                        <p:cNvPr id="25191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5" y="1194"/>
                          <a:ext cx="101" cy="1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2005" name="AutoShape 101"/>
            <p:cNvSpPr>
              <a:spLocks noChangeArrowheads="1"/>
            </p:cNvSpPr>
            <p:nvPr/>
          </p:nvSpPr>
          <p:spPr bwMode="auto">
            <a:xfrm rot="5400000" flipH="1" flipV="1">
              <a:off x="1182" y="1249"/>
              <a:ext cx="312" cy="91"/>
            </a:xfrm>
            <a:prstGeom prst="rightArrow">
              <a:avLst>
                <a:gd name="adj1" fmla="val 50000"/>
                <a:gd name="adj2" fmla="val 85714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ru-RU" altLang="ru-RU"/>
            </a:p>
          </p:txBody>
        </p:sp>
      </p:grpSp>
      <p:grpSp>
        <p:nvGrpSpPr>
          <p:cNvPr id="252068" name="Group 164"/>
          <p:cNvGrpSpPr>
            <a:grpSpLocks/>
          </p:cNvGrpSpPr>
          <p:nvPr/>
        </p:nvGrpSpPr>
        <p:grpSpPr bwMode="auto">
          <a:xfrm>
            <a:off x="2747964" y="1809750"/>
            <a:ext cx="333375" cy="495300"/>
            <a:chOff x="1745" y="1140"/>
            <a:chExt cx="210" cy="312"/>
          </a:xfrm>
        </p:grpSpPr>
        <p:sp>
          <p:nvSpPr>
            <p:cNvPr id="252006" name="AutoShape 102"/>
            <p:cNvSpPr>
              <a:spLocks noChangeArrowheads="1"/>
            </p:cNvSpPr>
            <p:nvPr/>
          </p:nvSpPr>
          <p:spPr bwMode="auto">
            <a:xfrm rot="5400000" flipH="1" flipV="1">
              <a:off x="1635" y="1250"/>
              <a:ext cx="312" cy="91"/>
            </a:xfrm>
            <a:prstGeom prst="rightArrow">
              <a:avLst>
                <a:gd name="adj1" fmla="val 50000"/>
                <a:gd name="adj2" fmla="val 85714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ru-RU" altLang="ru-RU"/>
            </a:p>
          </p:txBody>
        </p:sp>
        <p:graphicFrame>
          <p:nvGraphicFramePr>
            <p:cNvPr id="252007" name="Object 10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7550931"/>
                </p:ext>
              </p:extLst>
            </p:nvPr>
          </p:nvGraphicFramePr>
          <p:xfrm>
            <a:off x="1867" y="1215"/>
            <a:ext cx="88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1" name="Уравнение" r:id="rId5" imgW="139680" imgH="164880" progId="Equation.3">
                    <p:embed/>
                  </p:oleObj>
                </mc:Choice>
                <mc:Fallback>
                  <p:oleObj name="Уравнение" r:id="rId5" imgW="139680" imgH="164880" progId="Equation.3">
                    <p:embed/>
                    <p:pic>
                      <p:nvPicPr>
                        <p:cNvPr id="252007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7" y="1215"/>
                          <a:ext cx="88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2009" name="Text Box 105"/>
          <p:cNvSpPr txBox="1">
            <a:spLocks noChangeArrowheads="1"/>
          </p:cNvSpPr>
          <p:nvPr/>
        </p:nvSpPr>
        <p:spPr bwMode="auto">
          <a:xfrm>
            <a:off x="3503614" y="1628775"/>
            <a:ext cx="1116844" cy="101566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200" b="1" dirty="0">
                <a:solidFill>
                  <a:srgbClr val="FF0000"/>
                </a:solidFill>
              </a:rPr>
              <a:t>Реакция нити</a:t>
            </a:r>
          </a:p>
          <a:p>
            <a:r>
              <a:rPr lang="ru-RU" altLang="ru-RU" sz="1200" b="1" dirty="0">
                <a:solidFill>
                  <a:srgbClr val="FF0000"/>
                </a:solidFill>
              </a:rPr>
              <a:t>(стержня)</a:t>
            </a:r>
          </a:p>
          <a:p>
            <a:r>
              <a:rPr lang="ru-RU" altLang="ru-RU" sz="1200" b="1" dirty="0">
                <a:solidFill>
                  <a:srgbClr val="FF0000"/>
                </a:solidFill>
              </a:rPr>
              <a:t>направлена</a:t>
            </a:r>
          </a:p>
          <a:p>
            <a:r>
              <a:rPr lang="ru-RU" altLang="ru-RU" sz="1200" b="1" dirty="0">
                <a:solidFill>
                  <a:srgbClr val="FF0000"/>
                </a:solidFill>
              </a:rPr>
              <a:t>по нити</a:t>
            </a:r>
          </a:p>
          <a:p>
            <a:r>
              <a:rPr lang="ru-RU" altLang="ru-RU" sz="1200" b="1" dirty="0">
                <a:solidFill>
                  <a:srgbClr val="FF0000"/>
                </a:solidFill>
              </a:rPr>
              <a:t>(по стержню).</a:t>
            </a:r>
          </a:p>
        </p:txBody>
      </p:sp>
      <p:sp>
        <p:nvSpPr>
          <p:cNvPr id="252010" name="Text Box 106"/>
          <p:cNvSpPr txBox="1">
            <a:spLocks noChangeArrowheads="1"/>
          </p:cNvSpPr>
          <p:nvPr/>
        </p:nvSpPr>
        <p:spPr bwMode="auto">
          <a:xfrm>
            <a:off x="4704983" y="1281827"/>
            <a:ext cx="24965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200" dirty="0"/>
              <a:t>2. </a:t>
            </a:r>
            <a:r>
              <a:rPr lang="ru-RU" altLang="ru-RU" sz="1200" dirty="0">
                <a:solidFill>
                  <a:srgbClr val="FF0000"/>
                </a:solidFill>
              </a:rPr>
              <a:t>Абсолютно гладкая поверхность</a:t>
            </a:r>
            <a:r>
              <a:rPr lang="en-US" altLang="ru-RU" sz="1200" dirty="0">
                <a:solidFill>
                  <a:srgbClr val="FF0000"/>
                </a:solidFill>
              </a:rPr>
              <a:t>:</a:t>
            </a:r>
            <a:endParaRPr lang="ru-RU" altLang="ru-RU" sz="1200" dirty="0">
              <a:solidFill>
                <a:srgbClr val="FF0000"/>
              </a:solidFill>
            </a:endParaRPr>
          </a:p>
        </p:txBody>
      </p:sp>
      <p:sp>
        <p:nvSpPr>
          <p:cNvPr id="252011" name="Rectangle 107"/>
          <p:cNvSpPr>
            <a:spLocks noChangeArrowheads="1"/>
          </p:cNvSpPr>
          <p:nvPr/>
        </p:nvSpPr>
        <p:spPr bwMode="auto">
          <a:xfrm rot="1167554">
            <a:off x="4986338" y="2025651"/>
            <a:ext cx="1479550" cy="252413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grpSp>
        <p:nvGrpSpPr>
          <p:cNvPr id="252071" name="Group 167"/>
          <p:cNvGrpSpPr>
            <a:grpSpLocks/>
          </p:cNvGrpSpPr>
          <p:nvPr/>
        </p:nvGrpSpPr>
        <p:grpSpPr bwMode="auto">
          <a:xfrm>
            <a:off x="5094289" y="2097088"/>
            <a:ext cx="1512887" cy="576262"/>
            <a:chOff x="3129" y="1253"/>
            <a:chExt cx="953" cy="363"/>
          </a:xfrm>
        </p:grpSpPr>
        <p:grpSp>
          <p:nvGrpSpPr>
            <p:cNvPr id="252069" name="Group 165"/>
            <p:cNvGrpSpPr>
              <a:grpSpLocks/>
            </p:cNvGrpSpPr>
            <p:nvPr/>
          </p:nvGrpSpPr>
          <p:grpSpPr bwMode="auto">
            <a:xfrm>
              <a:off x="3129" y="1253"/>
              <a:ext cx="953" cy="363"/>
              <a:chOff x="3129" y="1252"/>
              <a:chExt cx="953" cy="363"/>
            </a:xfrm>
          </p:grpSpPr>
          <p:sp>
            <p:nvSpPr>
              <p:cNvPr id="252013" name="Rectangle 109"/>
              <p:cNvSpPr>
                <a:spLocks noChangeArrowheads="1"/>
              </p:cNvSpPr>
              <p:nvPr/>
            </p:nvSpPr>
            <p:spPr bwMode="auto">
              <a:xfrm>
                <a:off x="3129" y="1523"/>
                <a:ext cx="953" cy="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2014" name="Rectangle 110"/>
              <p:cNvSpPr>
                <a:spLocks noChangeArrowheads="1"/>
              </p:cNvSpPr>
              <p:nvPr/>
            </p:nvSpPr>
            <p:spPr bwMode="auto">
              <a:xfrm rot="16200000" flipH="1">
                <a:off x="3038" y="1365"/>
                <a:ext cx="272" cy="90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2016" name="Rectangle 112"/>
              <p:cNvSpPr>
                <a:spLocks noChangeArrowheads="1"/>
              </p:cNvSpPr>
              <p:nvPr/>
            </p:nvSpPr>
            <p:spPr bwMode="auto">
              <a:xfrm rot="16200000" flipH="1">
                <a:off x="3900" y="1343"/>
                <a:ext cx="272" cy="90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2017" name="Line 113"/>
              <p:cNvSpPr>
                <a:spLocks noChangeShapeType="1"/>
              </p:cNvSpPr>
              <p:nvPr/>
            </p:nvSpPr>
            <p:spPr bwMode="auto">
              <a:xfrm>
                <a:off x="3220" y="1524"/>
                <a:ext cx="7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018" name="Line 114"/>
              <p:cNvSpPr>
                <a:spLocks noChangeShapeType="1"/>
              </p:cNvSpPr>
              <p:nvPr/>
            </p:nvSpPr>
            <p:spPr bwMode="auto">
              <a:xfrm>
                <a:off x="3220" y="1274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021" name="Line 117"/>
              <p:cNvSpPr>
                <a:spLocks noChangeShapeType="1"/>
              </p:cNvSpPr>
              <p:nvPr/>
            </p:nvSpPr>
            <p:spPr bwMode="auto">
              <a:xfrm flipV="1">
                <a:off x="3991" y="1252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252022" name="Line 118"/>
            <p:cNvSpPr>
              <a:spLocks noChangeShapeType="1"/>
            </p:cNvSpPr>
            <p:nvPr/>
          </p:nvSpPr>
          <p:spPr bwMode="auto">
            <a:xfrm flipH="1">
              <a:off x="3129" y="127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52031" name="AutoShape 127"/>
          <p:cNvSpPr>
            <a:spLocks noChangeArrowheads="1"/>
          </p:cNvSpPr>
          <p:nvPr/>
        </p:nvSpPr>
        <p:spPr bwMode="auto">
          <a:xfrm rot="16200000" flipH="1">
            <a:off x="5495132" y="2309019"/>
            <a:ext cx="495300" cy="144463"/>
          </a:xfrm>
          <a:prstGeom prst="rightArrow">
            <a:avLst>
              <a:gd name="adj1" fmla="val 50000"/>
              <a:gd name="adj2" fmla="val 8571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ru-RU" altLang="ru-RU"/>
          </a:p>
        </p:txBody>
      </p:sp>
      <p:grpSp>
        <p:nvGrpSpPr>
          <p:cNvPr id="252076" name="Group 172"/>
          <p:cNvGrpSpPr>
            <a:grpSpLocks/>
          </p:cNvGrpSpPr>
          <p:nvPr/>
        </p:nvGrpSpPr>
        <p:grpSpPr bwMode="auto">
          <a:xfrm>
            <a:off x="5238750" y="1624017"/>
            <a:ext cx="400050" cy="509588"/>
            <a:chOff x="2340" y="1023"/>
            <a:chExt cx="252" cy="321"/>
          </a:xfrm>
        </p:grpSpPr>
        <p:graphicFrame>
          <p:nvGraphicFramePr>
            <p:cNvPr id="252043" name="Object 1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3584969"/>
                </p:ext>
              </p:extLst>
            </p:nvPr>
          </p:nvGraphicFramePr>
          <p:xfrm>
            <a:off x="2464" y="1023"/>
            <a:ext cx="128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2" name="Уравнение" r:id="rId7" imgW="203040" imgH="215640" progId="Equation.3">
                    <p:embed/>
                  </p:oleObj>
                </mc:Choice>
                <mc:Fallback>
                  <p:oleObj name="Уравнение" r:id="rId7" imgW="203040" imgH="215640" progId="Equation.3">
                    <p:embed/>
                    <p:pic>
                      <p:nvPicPr>
                        <p:cNvPr id="252043" name="Object 1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4" y="1023"/>
                          <a:ext cx="128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2033" name="AutoShape 129"/>
            <p:cNvSpPr>
              <a:spLocks noChangeArrowheads="1"/>
            </p:cNvSpPr>
            <p:nvPr/>
          </p:nvSpPr>
          <p:spPr bwMode="auto">
            <a:xfrm rot="17476285">
              <a:off x="2230" y="1142"/>
              <a:ext cx="312" cy="92"/>
            </a:xfrm>
            <a:prstGeom prst="rightArrow">
              <a:avLst>
                <a:gd name="adj1" fmla="val 50000"/>
                <a:gd name="adj2" fmla="val 84783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ru-RU" altLang="ru-RU"/>
            </a:p>
          </p:txBody>
        </p:sp>
      </p:grpSp>
      <p:sp>
        <p:nvSpPr>
          <p:cNvPr id="252057" name="Text Box 153"/>
          <p:cNvSpPr txBox="1">
            <a:spLocks noChangeArrowheads="1"/>
          </p:cNvSpPr>
          <p:nvPr/>
        </p:nvSpPr>
        <p:spPr bwMode="auto">
          <a:xfrm>
            <a:off x="7177088" y="1746250"/>
            <a:ext cx="2843212" cy="646331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 sz="1200" b="1" dirty="0">
                <a:solidFill>
                  <a:srgbClr val="FF0000"/>
                </a:solidFill>
              </a:rPr>
              <a:t>Реакция гладкой поверхности направлена </a:t>
            </a:r>
            <a:r>
              <a:rPr lang="ru-RU" sz="1200" b="1" dirty="0">
                <a:solidFill>
                  <a:srgbClr val="FF0000"/>
                </a:solidFill>
              </a:rPr>
              <a:t>по общей нормали к поверхностям соприкасающихся тел</a:t>
            </a:r>
            <a:endParaRPr lang="ru-RU" altLang="ru-RU" sz="1200" b="1" dirty="0">
              <a:solidFill>
                <a:srgbClr val="FF0000"/>
              </a:solidFill>
            </a:endParaRPr>
          </a:p>
        </p:txBody>
      </p:sp>
      <p:sp>
        <p:nvSpPr>
          <p:cNvPr id="252074" name="Rectangle 170"/>
          <p:cNvSpPr>
            <a:spLocks noChangeArrowheads="1"/>
          </p:cNvSpPr>
          <p:nvPr/>
        </p:nvSpPr>
        <p:spPr bwMode="auto">
          <a:xfrm rot="1167554">
            <a:off x="4979988" y="1989138"/>
            <a:ext cx="1511300" cy="323850"/>
          </a:xfrm>
          <a:prstGeom prst="rect">
            <a:avLst/>
          </a:prstGeom>
          <a:solidFill>
            <a:srgbClr val="00FFFF">
              <a:alpha val="28000"/>
            </a:srgbClr>
          </a:solidFill>
          <a:ln w="9525">
            <a:solidFill>
              <a:srgbClr val="33CCCC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grpSp>
        <p:nvGrpSpPr>
          <p:cNvPr id="252078" name="Group 174"/>
          <p:cNvGrpSpPr>
            <a:grpSpLocks/>
          </p:cNvGrpSpPr>
          <p:nvPr/>
        </p:nvGrpSpPr>
        <p:grpSpPr bwMode="auto">
          <a:xfrm>
            <a:off x="6462713" y="1997076"/>
            <a:ext cx="495300" cy="354013"/>
            <a:chOff x="3111" y="1258"/>
            <a:chExt cx="312" cy="223"/>
          </a:xfrm>
        </p:grpSpPr>
        <p:graphicFrame>
          <p:nvGraphicFramePr>
            <p:cNvPr id="252052" name="Object 1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2356926"/>
                </p:ext>
              </p:extLst>
            </p:nvPr>
          </p:nvGraphicFramePr>
          <p:xfrm>
            <a:off x="3217" y="1258"/>
            <a:ext cx="121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3" name="Уравнение" r:id="rId9" imgW="203040" imgH="228600" progId="Equation.3">
                    <p:embed/>
                  </p:oleObj>
                </mc:Choice>
                <mc:Fallback>
                  <p:oleObj name="Уравнение" r:id="rId9" imgW="203040" imgH="228600" progId="Equation.3">
                    <p:embed/>
                    <p:pic>
                      <p:nvPicPr>
                        <p:cNvPr id="252052" name="Object 1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7" y="1258"/>
                          <a:ext cx="121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1926" name="AutoShape 22"/>
            <p:cNvSpPr>
              <a:spLocks noChangeArrowheads="1"/>
            </p:cNvSpPr>
            <p:nvPr/>
          </p:nvSpPr>
          <p:spPr bwMode="auto">
            <a:xfrm flipH="1">
              <a:off x="3111" y="1389"/>
              <a:ext cx="312" cy="92"/>
            </a:xfrm>
            <a:prstGeom prst="rightArrow">
              <a:avLst>
                <a:gd name="adj1" fmla="val 50000"/>
                <a:gd name="adj2" fmla="val 84783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ru-RU" altLang="ru-RU"/>
            </a:p>
          </p:txBody>
        </p:sp>
      </p:grpSp>
      <p:grpSp>
        <p:nvGrpSpPr>
          <p:cNvPr id="252077" name="Group 173"/>
          <p:cNvGrpSpPr>
            <a:grpSpLocks/>
          </p:cNvGrpSpPr>
          <p:nvPr/>
        </p:nvGrpSpPr>
        <p:grpSpPr bwMode="auto">
          <a:xfrm>
            <a:off x="6302376" y="2514600"/>
            <a:ext cx="398463" cy="495300"/>
            <a:chOff x="3010" y="1584"/>
            <a:chExt cx="251" cy="312"/>
          </a:xfrm>
        </p:grpSpPr>
        <p:graphicFrame>
          <p:nvGraphicFramePr>
            <p:cNvPr id="252049" name="Object 1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9277045"/>
                </p:ext>
              </p:extLst>
            </p:nvPr>
          </p:nvGraphicFramePr>
          <p:xfrm>
            <a:off x="3125" y="1733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4" name="Уравнение" r:id="rId11" imgW="215640" imgH="215640" progId="Equation.3">
                    <p:embed/>
                  </p:oleObj>
                </mc:Choice>
                <mc:Fallback>
                  <p:oleObj name="Уравнение" r:id="rId11" imgW="215640" imgH="215640" progId="Equation.3">
                    <p:embed/>
                    <p:pic>
                      <p:nvPicPr>
                        <p:cNvPr id="252049" name="Object 1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5" y="1733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1969" name="AutoShape 65"/>
            <p:cNvSpPr>
              <a:spLocks noChangeArrowheads="1"/>
            </p:cNvSpPr>
            <p:nvPr/>
          </p:nvSpPr>
          <p:spPr bwMode="auto">
            <a:xfrm rot="16200000">
              <a:off x="2900" y="1694"/>
              <a:ext cx="312" cy="92"/>
            </a:xfrm>
            <a:prstGeom prst="rightArrow">
              <a:avLst>
                <a:gd name="adj1" fmla="val 50000"/>
                <a:gd name="adj2" fmla="val 84783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ru-RU" altLang="ru-RU"/>
            </a:p>
          </p:txBody>
        </p:sp>
      </p:grpSp>
      <p:grpSp>
        <p:nvGrpSpPr>
          <p:cNvPr id="252079" name="Group 175"/>
          <p:cNvGrpSpPr>
            <a:grpSpLocks/>
          </p:cNvGrpSpPr>
          <p:nvPr/>
        </p:nvGrpSpPr>
        <p:grpSpPr bwMode="auto">
          <a:xfrm>
            <a:off x="1811338" y="1557338"/>
            <a:ext cx="576262" cy="755650"/>
            <a:chOff x="181" y="981"/>
            <a:chExt cx="363" cy="476"/>
          </a:xfrm>
        </p:grpSpPr>
        <p:grpSp>
          <p:nvGrpSpPr>
            <p:cNvPr id="252080" name="Group 176"/>
            <p:cNvGrpSpPr>
              <a:grpSpLocks/>
            </p:cNvGrpSpPr>
            <p:nvPr/>
          </p:nvGrpSpPr>
          <p:grpSpPr bwMode="auto">
            <a:xfrm>
              <a:off x="181" y="981"/>
              <a:ext cx="363" cy="476"/>
              <a:chOff x="181" y="981"/>
              <a:chExt cx="363" cy="476"/>
            </a:xfrm>
          </p:grpSpPr>
          <p:sp>
            <p:nvSpPr>
              <p:cNvPr id="252081" name="Line 177"/>
              <p:cNvSpPr>
                <a:spLocks noChangeShapeType="1"/>
              </p:cNvSpPr>
              <p:nvPr/>
            </p:nvSpPr>
            <p:spPr bwMode="auto">
              <a:xfrm>
                <a:off x="363" y="1049"/>
                <a:ext cx="0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082" name="Rectangle 178"/>
              <p:cNvSpPr>
                <a:spLocks noChangeArrowheads="1"/>
              </p:cNvSpPr>
              <p:nvPr/>
            </p:nvSpPr>
            <p:spPr bwMode="auto">
              <a:xfrm>
                <a:off x="181" y="981"/>
                <a:ext cx="363" cy="68"/>
              </a:xfrm>
              <a:prstGeom prst="rect">
                <a:avLst/>
              </a:prstGeom>
              <a:solidFill>
                <a:srgbClr val="C0C0C0">
                  <a:alpha val="20000"/>
                </a:srgbClr>
              </a:soli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sp>
          <p:nvSpPr>
            <p:cNvPr id="252083" name="Line 179"/>
            <p:cNvSpPr>
              <a:spLocks noChangeShapeType="1"/>
            </p:cNvSpPr>
            <p:nvPr/>
          </p:nvSpPr>
          <p:spPr bwMode="auto">
            <a:xfrm>
              <a:off x="181" y="1049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52091" name="Group 187"/>
          <p:cNvGrpSpPr>
            <a:grpSpLocks/>
          </p:cNvGrpSpPr>
          <p:nvPr/>
        </p:nvGrpSpPr>
        <p:grpSpPr bwMode="auto">
          <a:xfrm>
            <a:off x="2532063" y="1557338"/>
            <a:ext cx="576262" cy="755650"/>
            <a:chOff x="634" y="981"/>
            <a:chExt cx="363" cy="476"/>
          </a:xfrm>
        </p:grpSpPr>
        <p:grpSp>
          <p:nvGrpSpPr>
            <p:cNvPr id="252092" name="Group 188"/>
            <p:cNvGrpSpPr>
              <a:grpSpLocks/>
            </p:cNvGrpSpPr>
            <p:nvPr/>
          </p:nvGrpSpPr>
          <p:grpSpPr bwMode="auto">
            <a:xfrm>
              <a:off x="634" y="981"/>
              <a:ext cx="363" cy="476"/>
              <a:chOff x="634" y="981"/>
              <a:chExt cx="363" cy="476"/>
            </a:xfrm>
          </p:grpSpPr>
          <p:sp>
            <p:nvSpPr>
              <p:cNvPr id="252093" name="Oval 189"/>
              <p:cNvSpPr>
                <a:spLocks noChangeArrowheads="1"/>
              </p:cNvSpPr>
              <p:nvPr/>
            </p:nvSpPr>
            <p:spPr bwMode="auto">
              <a:xfrm>
                <a:off x="793" y="1049"/>
                <a:ext cx="45" cy="45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2094" name="Line 190"/>
              <p:cNvSpPr>
                <a:spLocks noChangeShapeType="1"/>
              </p:cNvSpPr>
              <p:nvPr/>
            </p:nvSpPr>
            <p:spPr bwMode="auto">
              <a:xfrm>
                <a:off x="815" y="1094"/>
                <a:ext cx="1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52095" name="Oval 191"/>
              <p:cNvSpPr>
                <a:spLocks noChangeArrowheads="1"/>
              </p:cNvSpPr>
              <p:nvPr/>
            </p:nvSpPr>
            <p:spPr bwMode="auto">
              <a:xfrm>
                <a:off x="793" y="1412"/>
                <a:ext cx="45" cy="45"/>
              </a:xfrm>
              <a:prstGeom prst="ellipse">
                <a:avLst/>
              </a:prstGeom>
              <a:solidFill>
                <a:schemeClr val="accent1">
                  <a:alpha val="2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2096" name="Rectangle 192"/>
              <p:cNvSpPr>
                <a:spLocks noChangeArrowheads="1"/>
              </p:cNvSpPr>
              <p:nvPr/>
            </p:nvSpPr>
            <p:spPr bwMode="auto">
              <a:xfrm>
                <a:off x="634" y="981"/>
                <a:ext cx="363" cy="68"/>
              </a:xfrm>
              <a:prstGeom prst="rect">
                <a:avLst/>
              </a:prstGeom>
              <a:solidFill>
                <a:srgbClr val="C0C0C0">
                  <a:alpha val="20000"/>
                </a:srgbClr>
              </a:soli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</p:grpSp>
        <p:sp>
          <p:nvSpPr>
            <p:cNvPr id="252097" name="Line 193"/>
            <p:cNvSpPr>
              <a:spLocks noChangeShapeType="1"/>
            </p:cNvSpPr>
            <p:nvPr/>
          </p:nvSpPr>
          <p:spPr bwMode="auto">
            <a:xfrm>
              <a:off x="634" y="1049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52108" name="Text Box 204"/>
          <p:cNvSpPr txBox="1">
            <a:spLocks noChangeArrowheads="1"/>
          </p:cNvSpPr>
          <p:nvPr/>
        </p:nvSpPr>
        <p:spPr bwMode="auto">
          <a:xfrm>
            <a:off x="1320800" y="4045454"/>
            <a:ext cx="302249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 sz="1200"/>
              <a:t>3</a:t>
            </a:r>
            <a:r>
              <a:rPr lang="ru-RU" altLang="ru-RU" sz="1200"/>
              <a:t>. </a:t>
            </a:r>
            <a:r>
              <a:rPr lang="ru-RU" altLang="ru-RU" sz="1200">
                <a:solidFill>
                  <a:srgbClr val="FF0000"/>
                </a:solidFill>
              </a:rPr>
              <a:t>Неподвижный цилиндрический шарнир</a:t>
            </a:r>
            <a:r>
              <a:rPr lang="en-US" altLang="ru-RU" sz="1200">
                <a:solidFill>
                  <a:srgbClr val="FF0000"/>
                </a:solidFill>
              </a:rPr>
              <a:t>:</a:t>
            </a:r>
            <a:endParaRPr lang="ru-RU" altLang="ru-RU" sz="1200">
              <a:solidFill>
                <a:srgbClr val="FF0000"/>
              </a:solidFill>
            </a:endParaRPr>
          </a:p>
        </p:txBody>
      </p:sp>
      <p:grpSp>
        <p:nvGrpSpPr>
          <p:cNvPr id="252121" name="Group 217"/>
          <p:cNvGrpSpPr>
            <a:grpSpLocks/>
          </p:cNvGrpSpPr>
          <p:nvPr/>
        </p:nvGrpSpPr>
        <p:grpSpPr bwMode="auto">
          <a:xfrm>
            <a:off x="1535113" y="4585203"/>
            <a:ext cx="1479550" cy="360362"/>
            <a:chOff x="225" y="2273"/>
            <a:chExt cx="932" cy="227"/>
          </a:xfrm>
        </p:grpSpPr>
        <p:sp>
          <p:nvSpPr>
            <p:cNvPr id="252111" name="AutoShape 207"/>
            <p:cNvSpPr>
              <a:spLocks noChangeArrowheads="1"/>
            </p:cNvSpPr>
            <p:nvPr/>
          </p:nvSpPr>
          <p:spPr bwMode="auto">
            <a:xfrm flipV="1">
              <a:off x="227" y="2387"/>
              <a:ext cx="227" cy="113"/>
            </a:xfrm>
            <a:prstGeom prst="triangle">
              <a:avLst>
                <a:gd name="adj" fmla="val 50000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023" name="Rectangle 119"/>
            <p:cNvSpPr>
              <a:spLocks noChangeArrowheads="1"/>
            </p:cNvSpPr>
            <p:nvPr/>
          </p:nvSpPr>
          <p:spPr bwMode="auto">
            <a:xfrm>
              <a:off x="225" y="2273"/>
              <a:ext cx="932" cy="15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52119" name="Rectangle 215"/>
          <p:cNvSpPr>
            <a:spLocks noChangeArrowheads="1"/>
          </p:cNvSpPr>
          <p:nvPr/>
        </p:nvSpPr>
        <p:spPr bwMode="auto">
          <a:xfrm>
            <a:off x="1501776" y="4550278"/>
            <a:ext cx="1547813" cy="360362"/>
          </a:xfrm>
          <a:prstGeom prst="rect">
            <a:avLst/>
          </a:prstGeom>
          <a:solidFill>
            <a:srgbClr val="CCFFFF">
              <a:alpha val="45000"/>
            </a:srgbClr>
          </a:solidFill>
          <a:ln w="9525">
            <a:solidFill>
              <a:srgbClr val="00CCFF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52118" name="AutoShape 214"/>
          <p:cNvSpPr>
            <a:spLocks noChangeArrowheads="1"/>
          </p:cNvSpPr>
          <p:nvPr/>
        </p:nvSpPr>
        <p:spPr bwMode="auto">
          <a:xfrm flipH="1">
            <a:off x="2257426" y="4621716"/>
            <a:ext cx="396875" cy="144463"/>
          </a:xfrm>
          <a:prstGeom prst="rightArrow">
            <a:avLst>
              <a:gd name="adj1" fmla="val 50000"/>
              <a:gd name="adj2" fmla="val 6868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RU" altLang="ru-RU"/>
          </a:p>
        </p:txBody>
      </p:sp>
      <p:sp>
        <p:nvSpPr>
          <p:cNvPr id="252117" name="AutoShape 213"/>
          <p:cNvSpPr>
            <a:spLocks noChangeArrowheads="1"/>
          </p:cNvSpPr>
          <p:nvPr/>
        </p:nvSpPr>
        <p:spPr bwMode="auto">
          <a:xfrm rot="16200000" flipH="1">
            <a:off x="2370932" y="4833647"/>
            <a:ext cx="495300" cy="144463"/>
          </a:xfrm>
          <a:prstGeom prst="rightArrow">
            <a:avLst>
              <a:gd name="adj1" fmla="val 50000"/>
              <a:gd name="adj2" fmla="val 8571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ru-RU" altLang="ru-RU"/>
          </a:p>
        </p:txBody>
      </p:sp>
      <p:grpSp>
        <p:nvGrpSpPr>
          <p:cNvPr id="252122" name="Group 218"/>
          <p:cNvGrpSpPr>
            <a:grpSpLocks/>
          </p:cNvGrpSpPr>
          <p:nvPr/>
        </p:nvGrpSpPr>
        <p:grpSpPr bwMode="auto">
          <a:xfrm>
            <a:off x="1428751" y="4874128"/>
            <a:ext cx="612775" cy="360362"/>
            <a:chOff x="158" y="2772"/>
            <a:chExt cx="386" cy="227"/>
          </a:xfrm>
        </p:grpSpPr>
        <p:sp>
          <p:nvSpPr>
            <p:cNvPr id="252110" name="AutoShape 206"/>
            <p:cNvSpPr>
              <a:spLocks noChangeArrowheads="1"/>
            </p:cNvSpPr>
            <p:nvPr/>
          </p:nvSpPr>
          <p:spPr bwMode="auto">
            <a:xfrm>
              <a:off x="227" y="2817"/>
              <a:ext cx="227" cy="113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09" name="Oval 205"/>
            <p:cNvSpPr>
              <a:spLocks noChangeArrowheads="1"/>
            </p:cNvSpPr>
            <p:nvPr/>
          </p:nvSpPr>
          <p:spPr bwMode="auto">
            <a:xfrm>
              <a:off x="295" y="2772"/>
              <a:ext cx="91" cy="9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12" name="Rectangle 208"/>
            <p:cNvSpPr>
              <a:spLocks noChangeArrowheads="1"/>
            </p:cNvSpPr>
            <p:nvPr/>
          </p:nvSpPr>
          <p:spPr bwMode="auto">
            <a:xfrm>
              <a:off x="158" y="2931"/>
              <a:ext cx="386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13" name="Line 209"/>
            <p:cNvSpPr>
              <a:spLocks noChangeShapeType="1"/>
            </p:cNvSpPr>
            <p:nvPr/>
          </p:nvSpPr>
          <p:spPr bwMode="auto">
            <a:xfrm>
              <a:off x="158" y="2931"/>
              <a:ext cx="3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52130" name="Group 226"/>
          <p:cNvGrpSpPr>
            <a:grpSpLocks/>
          </p:cNvGrpSpPr>
          <p:nvPr/>
        </p:nvGrpSpPr>
        <p:grpSpPr bwMode="auto">
          <a:xfrm>
            <a:off x="5591176" y="3860800"/>
            <a:ext cx="612775" cy="469900"/>
            <a:chOff x="657" y="2976"/>
            <a:chExt cx="386" cy="296"/>
          </a:xfrm>
        </p:grpSpPr>
        <p:sp>
          <p:nvSpPr>
            <p:cNvPr id="252124" name="AutoShape 220"/>
            <p:cNvSpPr>
              <a:spLocks noChangeArrowheads="1"/>
            </p:cNvSpPr>
            <p:nvPr/>
          </p:nvSpPr>
          <p:spPr bwMode="auto">
            <a:xfrm>
              <a:off x="726" y="3021"/>
              <a:ext cx="227" cy="113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25" name="Oval 221"/>
            <p:cNvSpPr>
              <a:spLocks noChangeArrowheads="1"/>
            </p:cNvSpPr>
            <p:nvPr/>
          </p:nvSpPr>
          <p:spPr bwMode="auto">
            <a:xfrm>
              <a:off x="794" y="2976"/>
              <a:ext cx="91" cy="9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26" name="Rectangle 222"/>
            <p:cNvSpPr>
              <a:spLocks noChangeArrowheads="1"/>
            </p:cNvSpPr>
            <p:nvPr/>
          </p:nvSpPr>
          <p:spPr bwMode="auto">
            <a:xfrm>
              <a:off x="657" y="3204"/>
              <a:ext cx="386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27" name="Line 223"/>
            <p:cNvSpPr>
              <a:spLocks noChangeShapeType="1"/>
            </p:cNvSpPr>
            <p:nvPr/>
          </p:nvSpPr>
          <p:spPr bwMode="auto">
            <a:xfrm>
              <a:off x="657" y="3204"/>
              <a:ext cx="3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52128" name="Oval 224"/>
            <p:cNvSpPr>
              <a:spLocks noChangeArrowheads="1"/>
            </p:cNvSpPr>
            <p:nvPr/>
          </p:nvSpPr>
          <p:spPr bwMode="auto">
            <a:xfrm>
              <a:off x="748" y="3135"/>
              <a:ext cx="68" cy="6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29" name="Oval 225"/>
            <p:cNvSpPr>
              <a:spLocks noChangeArrowheads="1"/>
            </p:cNvSpPr>
            <p:nvPr/>
          </p:nvSpPr>
          <p:spPr bwMode="auto">
            <a:xfrm>
              <a:off x="861" y="3135"/>
              <a:ext cx="68" cy="6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252131" name="Text Box 227"/>
          <p:cNvSpPr txBox="1">
            <a:spLocks noChangeArrowheads="1"/>
          </p:cNvSpPr>
          <p:nvPr/>
        </p:nvSpPr>
        <p:spPr bwMode="auto">
          <a:xfrm>
            <a:off x="3336926" y="4405816"/>
            <a:ext cx="1692275" cy="156966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 sz="1200" b="1" dirty="0">
                <a:solidFill>
                  <a:srgbClr val="FF0000"/>
                </a:solidFill>
              </a:rPr>
              <a:t>Реакция неподвижного</a:t>
            </a:r>
          </a:p>
          <a:p>
            <a:r>
              <a:rPr lang="ru-RU" altLang="ru-RU" sz="1200" b="1" dirty="0">
                <a:solidFill>
                  <a:srgbClr val="FF0000"/>
                </a:solidFill>
              </a:rPr>
              <a:t>шарнира проходит через центр шарнира перпендикулярно оси шарнира и имеет произвольное направление.</a:t>
            </a:r>
          </a:p>
        </p:txBody>
      </p:sp>
      <p:grpSp>
        <p:nvGrpSpPr>
          <p:cNvPr id="252132" name="Group 228"/>
          <p:cNvGrpSpPr>
            <a:grpSpLocks/>
          </p:cNvGrpSpPr>
          <p:nvPr/>
        </p:nvGrpSpPr>
        <p:grpSpPr bwMode="auto">
          <a:xfrm>
            <a:off x="1428751" y="4874128"/>
            <a:ext cx="612775" cy="360362"/>
            <a:chOff x="158" y="2772"/>
            <a:chExt cx="386" cy="227"/>
          </a:xfrm>
        </p:grpSpPr>
        <p:sp>
          <p:nvSpPr>
            <p:cNvPr id="252133" name="AutoShape 229"/>
            <p:cNvSpPr>
              <a:spLocks noChangeArrowheads="1"/>
            </p:cNvSpPr>
            <p:nvPr/>
          </p:nvSpPr>
          <p:spPr bwMode="auto">
            <a:xfrm>
              <a:off x="227" y="2817"/>
              <a:ext cx="227" cy="113"/>
            </a:xfrm>
            <a:prstGeom prst="triangle">
              <a:avLst>
                <a:gd name="adj" fmla="val 50000"/>
              </a:avLst>
            </a:prstGeom>
            <a:solidFill>
              <a:srgbClr val="C0C0C0">
                <a:alpha val="2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34" name="Oval 230"/>
            <p:cNvSpPr>
              <a:spLocks noChangeArrowheads="1"/>
            </p:cNvSpPr>
            <p:nvPr/>
          </p:nvSpPr>
          <p:spPr bwMode="auto">
            <a:xfrm>
              <a:off x="295" y="2772"/>
              <a:ext cx="91" cy="91"/>
            </a:xfrm>
            <a:prstGeom prst="ellipse">
              <a:avLst/>
            </a:prstGeom>
            <a:solidFill>
              <a:srgbClr val="C0C0C0">
                <a:alpha val="2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35" name="Rectangle 231"/>
            <p:cNvSpPr>
              <a:spLocks noChangeArrowheads="1"/>
            </p:cNvSpPr>
            <p:nvPr/>
          </p:nvSpPr>
          <p:spPr bwMode="auto">
            <a:xfrm>
              <a:off x="158" y="2931"/>
              <a:ext cx="386" cy="68"/>
            </a:xfrm>
            <a:prstGeom prst="rect">
              <a:avLst/>
            </a:prstGeom>
            <a:solidFill>
              <a:srgbClr val="C0C0C0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36" name="Line 232"/>
            <p:cNvSpPr>
              <a:spLocks noChangeShapeType="1"/>
            </p:cNvSpPr>
            <p:nvPr/>
          </p:nvSpPr>
          <p:spPr bwMode="auto">
            <a:xfrm>
              <a:off x="158" y="2931"/>
              <a:ext cx="3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52145" name="Group 241"/>
          <p:cNvGrpSpPr>
            <a:grpSpLocks/>
          </p:cNvGrpSpPr>
          <p:nvPr/>
        </p:nvGrpSpPr>
        <p:grpSpPr bwMode="auto">
          <a:xfrm>
            <a:off x="1768476" y="4370890"/>
            <a:ext cx="417513" cy="647700"/>
            <a:chOff x="385" y="2115"/>
            <a:chExt cx="263" cy="408"/>
          </a:xfrm>
        </p:grpSpPr>
        <p:sp>
          <p:nvSpPr>
            <p:cNvPr id="252115" name="AutoShape 211"/>
            <p:cNvSpPr>
              <a:spLocks noChangeArrowheads="1"/>
            </p:cNvSpPr>
            <p:nvPr/>
          </p:nvSpPr>
          <p:spPr bwMode="auto">
            <a:xfrm rot="-68187832">
              <a:off x="275" y="2321"/>
              <a:ext cx="312" cy="92"/>
            </a:xfrm>
            <a:prstGeom prst="rightArrow">
              <a:avLst>
                <a:gd name="adj1" fmla="val 50000"/>
                <a:gd name="adj2" fmla="val 84783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ru-RU" altLang="ru-RU"/>
            </a:p>
          </p:txBody>
        </p:sp>
        <p:graphicFrame>
          <p:nvGraphicFramePr>
            <p:cNvPr id="252140" name="Object 236"/>
            <p:cNvGraphicFramePr>
              <a:graphicFrameLocks noChangeAspect="1"/>
            </p:cNvGraphicFramePr>
            <p:nvPr/>
          </p:nvGraphicFramePr>
          <p:xfrm>
            <a:off x="544" y="2115"/>
            <a:ext cx="104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5" name="Формула" r:id="rId13" imgW="164880" imgH="190440" progId="Equation.3">
                    <p:embed/>
                  </p:oleObj>
                </mc:Choice>
                <mc:Fallback>
                  <p:oleObj name="Формула" r:id="rId13" imgW="164880" imgH="190440" progId="Equation.3">
                    <p:embed/>
                    <p:pic>
                      <p:nvPicPr>
                        <p:cNvPr id="252140" name="Object 2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2115"/>
                          <a:ext cx="104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2144" name="Group 240"/>
          <p:cNvGrpSpPr>
            <a:grpSpLocks/>
          </p:cNvGrpSpPr>
          <p:nvPr/>
        </p:nvGrpSpPr>
        <p:grpSpPr bwMode="auto">
          <a:xfrm>
            <a:off x="1406525" y="4451860"/>
            <a:ext cx="827088" cy="576263"/>
            <a:chOff x="1406" y="2954"/>
            <a:chExt cx="521" cy="363"/>
          </a:xfrm>
        </p:grpSpPr>
        <p:sp>
          <p:nvSpPr>
            <p:cNvPr id="252137" name="AutoShape 233"/>
            <p:cNvSpPr>
              <a:spLocks noChangeArrowheads="1"/>
            </p:cNvSpPr>
            <p:nvPr/>
          </p:nvSpPr>
          <p:spPr bwMode="auto">
            <a:xfrm rot="5400000" flipH="1" flipV="1">
              <a:off x="1463" y="3101"/>
              <a:ext cx="250" cy="91"/>
            </a:xfrm>
            <a:prstGeom prst="rightArrow">
              <a:avLst>
                <a:gd name="adj1" fmla="val 50000"/>
                <a:gd name="adj2" fmla="val 68681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252138" name="AutoShape 234"/>
            <p:cNvSpPr>
              <a:spLocks noChangeArrowheads="1"/>
            </p:cNvSpPr>
            <p:nvPr/>
          </p:nvSpPr>
          <p:spPr bwMode="auto">
            <a:xfrm rot="-68187832">
              <a:off x="1523" y="3109"/>
              <a:ext cx="312" cy="92"/>
            </a:xfrm>
            <a:prstGeom prst="rightArrow">
              <a:avLst>
                <a:gd name="adj1" fmla="val 50000"/>
                <a:gd name="adj2" fmla="val 84783"/>
              </a:avLst>
            </a:prstGeom>
            <a:solidFill>
              <a:srgbClr val="0000FF">
                <a:alpha val="0"/>
              </a:srgbClr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252139" name="AutoShape 235"/>
            <p:cNvSpPr>
              <a:spLocks noChangeArrowheads="1"/>
            </p:cNvSpPr>
            <p:nvPr/>
          </p:nvSpPr>
          <p:spPr bwMode="auto">
            <a:xfrm rot="10800000" flipH="1" flipV="1">
              <a:off x="1576" y="3226"/>
              <a:ext cx="215" cy="91"/>
            </a:xfrm>
            <a:prstGeom prst="rightArrow">
              <a:avLst>
                <a:gd name="adj1" fmla="val 50000"/>
                <a:gd name="adj2" fmla="val 59066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ru-RU" altLang="ru-RU"/>
            </a:p>
          </p:txBody>
        </p:sp>
        <p:graphicFrame>
          <p:nvGraphicFramePr>
            <p:cNvPr id="252141" name="Object 2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3435845"/>
                </p:ext>
              </p:extLst>
            </p:nvPr>
          </p:nvGraphicFramePr>
          <p:xfrm>
            <a:off x="1783" y="3201"/>
            <a:ext cx="144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6" name="Уравнение" r:id="rId15" imgW="228600" imgH="177480" progId="Equation.3">
                    <p:embed/>
                  </p:oleObj>
                </mc:Choice>
                <mc:Fallback>
                  <p:oleObj name="Уравнение" r:id="rId15" imgW="228600" imgH="177480" progId="Equation.3">
                    <p:embed/>
                    <p:pic>
                      <p:nvPicPr>
                        <p:cNvPr id="252141" name="Object 2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3" y="3201"/>
                          <a:ext cx="144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2142" name="Object 2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5859859"/>
                </p:ext>
              </p:extLst>
            </p:nvPr>
          </p:nvGraphicFramePr>
          <p:xfrm>
            <a:off x="1406" y="2954"/>
            <a:ext cx="128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7" name="Уравнение" r:id="rId17" imgW="203040" imgH="177480" progId="Equation.3">
                    <p:embed/>
                  </p:oleObj>
                </mc:Choice>
                <mc:Fallback>
                  <p:oleObj name="Уравнение" r:id="rId17" imgW="203040" imgH="177480" progId="Equation.3">
                    <p:embed/>
                    <p:pic>
                      <p:nvPicPr>
                        <p:cNvPr id="252142" name="Object 2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" y="2954"/>
                          <a:ext cx="128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2146" name="Group 242"/>
          <p:cNvGrpSpPr>
            <a:grpSpLocks/>
          </p:cNvGrpSpPr>
          <p:nvPr/>
        </p:nvGrpSpPr>
        <p:grpSpPr bwMode="auto">
          <a:xfrm>
            <a:off x="2833689" y="4610603"/>
            <a:ext cx="452437" cy="658812"/>
            <a:chOff x="1043" y="2289"/>
            <a:chExt cx="285" cy="415"/>
          </a:xfrm>
        </p:grpSpPr>
        <p:grpSp>
          <p:nvGrpSpPr>
            <p:cNvPr id="252116" name="Group 212"/>
            <p:cNvGrpSpPr>
              <a:grpSpLocks/>
            </p:cNvGrpSpPr>
            <p:nvPr/>
          </p:nvGrpSpPr>
          <p:grpSpPr bwMode="auto">
            <a:xfrm>
              <a:off x="1043" y="2392"/>
              <a:ext cx="205" cy="312"/>
              <a:chOff x="2063" y="2801"/>
              <a:chExt cx="205" cy="312"/>
            </a:xfrm>
          </p:grpSpPr>
          <p:sp>
            <p:nvSpPr>
              <p:cNvPr id="252058" name="Oval 154"/>
              <p:cNvSpPr>
                <a:spLocks noChangeArrowheads="1"/>
              </p:cNvSpPr>
              <p:nvPr/>
            </p:nvSpPr>
            <p:spPr bwMode="auto">
              <a:xfrm>
                <a:off x="2063" y="2925"/>
                <a:ext cx="205" cy="188"/>
              </a:xfrm>
              <a:prstGeom prst="ellipse">
                <a:avLst/>
              </a:prstGeom>
              <a:solidFill>
                <a:srgbClr val="C0C0C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2059" name="Oval 155"/>
              <p:cNvSpPr>
                <a:spLocks noChangeArrowheads="1"/>
              </p:cNvSpPr>
              <p:nvPr/>
            </p:nvSpPr>
            <p:spPr bwMode="auto">
              <a:xfrm>
                <a:off x="2086" y="2948"/>
                <a:ext cx="159" cy="14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1966" name="Oval 62"/>
              <p:cNvSpPr>
                <a:spLocks noChangeArrowheads="1"/>
              </p:cNvSpPr>
              <p:nvPr/>
            </p:nvSpPr>
            <p:spPr bwMode="auto">
              <a:xfrm>
                <a:off x="2087" y="2976"/>
                <a:ext cx="113" cy="114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252060" name="AutoShape 156"/>
              <p:cNvSpPr>
                <a:spLocks noChangeArrowheads="1"/>
              </p:cNvSpPr>
              <p:nvPr/>
            </p:nvSpPr>
            <p:spPr bwMode="auto">
              <a:xfrm rot="-68187832">
                <a:off x="2044" y="2911"/>
                <a:ext cx="312" cy="92"/>
              </a:xfrm>
              <a:prstGeom prst="rightArrow">
                <a:avLst>
                  <a:gd name="adj1" fmla="val 50000"/>
                  <a:gd name="adj2" fmla="val 84783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pPr algn="ctr"/>
                <a:endParaRPr lang="ru-RU" altLang="ru-RU"/>
              </a:p>
            </p:txBody>
          </p:sp>
        </p:grpSp>
        <p:graphicFrame>
          <p:nvGraphicFramePr>
            <p:cNvPr id="252143" name="Object 239"/>
            <p:cNvGraphicFramePr>
              <a:graphicFrameLocks noChangeAspect="1"/>
            </p:cNvGraphicFramePr>
            <p:nvPr/>
          </p:nvGraphicFramePr>
          <p:xfrm>
            <a:off x="1224" y="2289"/>
            <a:ext cx="104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8" name="Формула" r:id="rId19" imgW="164880" imgH="190440" progId="Equation.3">
                    <p:embed/>
                  </p:oleObj>
                </mc:Choice>
                <mc:Fallback>
                  <p:oleObj name="Формула" r:id="rId19" imgW="164880" imgH="190440" progId="Equation.3">
                    <p:embed/>
                    <p:pic>
                      <p:nvPicPr>
                        <p:cNvPr id="252143" name="Object 2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4" y="2289"/>
                          <a:ext cx="104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2148" name="Text Box 244"/>
          <p:cNvSpPr txBox="1">
            <a:spLocks noChangeArrowheads="1"/>
          </p:cNvSpPr>
          <p:nvPr/>
        </p:nvSpPr>
        <p:spPr bwMode="auto">
          <a:xfrm>
            <a:off x="3336387" y="5038897"/>
            <a:ext cx="1836526" cy="138499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ru-RU" altLang="ru-RU" sz="1200" b="1" dirty="0"/>
              <a:t>Реакцию неподвижного</a:t>
            </a:r>
          </a:p>
          <a:p>
            <a:r>
              <a:rPr lang="ru-RU" altLang="ru-RU" sz="1200" b="1" dirty="0"/>
              <a:t>шарнира можно разложить на две составляющие, например, </a:t>
            </a:r>
            <a:r>
              <a:rPr lang="en-US" altLang="ru-RU" sz="1200" b="1" i="1" dirty="0"/>
              <a:t>R</a:t>
            </a:r>
            <a:r>
              <a:rPr lang="en-US" altLang="ru-RU" sz="1200" b="1" i="1" baseline="-25000" dirty="0"/>
              <a:t>x</a:t>
            </a:r>
            <a:r>
              <a:rPr lang="en-US" altLang="ru-RU" sz="1200" b="1" dirty="0"/>
              <a:t> </a:t>
            </a:r>
            <a:r>
              <a:rPr lang="ru-RU" altLang="ru-RU" sz="1200" b="1" dirty="0"/>
              <a:t>и </a:t>
            </a:r>
            <a:r>
              <a:rPr lang="en-US" altLang="ru-RU" sz="1200" b="1" i="1" dirty="0"/>
              <a:t>R</a:t>
            </a:r>
            <a:r>
              <a:rPr lang="en-US" altLang="ru-RU" sz="1200" b="1" i="1" baseline="-25000" dirty="0"/>
              <a:t>y</a:t>
            </a:r>
            <a:r>
              <a:rPr lang="ru-RU" altLang="ru-RU" sz="1200" b="1" dirty="0"/>
              <a:t>, параллельные координатным осям.</a:t>
            </a:r>
          </a:p>
        </p:txBody>
      </p:sp>
      <p:sp>
        <p:nvSpPr>
          <p:cNvPr id="252152" name="Text Box 248"/>
          <p:cNvSpPr txBox="1">
            <a:spLocks noChangeArrowheads="1"/>
          </p:cNvSpPr>
          <p:nvPr/>
        </p:nvSpPr>
        <p:spPr bwMode="auto">
          <a:xfrm>
            <a:off x="5351463" y="3076576"/>
            <a:ext cx="281891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000" dirty="0"/>
              <a:t>4. </a:t>
            </a:r>
            <a:r>
              <a:rPr lang="ru-RU" altLang="ru-RU" sz="1200" dirty="0">
                <a:solidFill>
                  <a:srgbClr val="FF0000"/>
                </a:solidFill>
              </a:rPr>
              <a:t>Подвижный</a:t>
            </a:r>
            <a:r>
              <a:rPr lang="ru-RU" altLang="ru-RU" sz="1000" dirty="0">
                <a:solidFill>
                  <a:srgbClr val="FF0000"/>
                </a:solidFill>
              </a:rPr>
              <a:t> </a:t>
            </a:r>
            <a:r>
              <a:rPr lang="ru-RU" altLang="ru-RU" sz="1200" dirty="0">
                <a:solidFill>
                  <a:srgbClr val="FF0000"/>
                </a:solidFill>
              </a:rPr>
              <a:t>цилиндрический</a:t>
            </a:r>
            <a:r>
              <a:rPr lang="ru-RU" altLang="ru-RU" sz="1000" dirty="0">
                <a:solidFill>
                  <a:srgbClr val="FF0000"/>
                </a:solidFill>
              </a:rPr>
              <a:t> </a:t>
            </a:r>
            <a:r>
              <a:rPr lang="ru-RU" altLang="ru-RU" sz="1200" dirty="0">
                <a:solidFill>
                  <a:srgbClr val="FF0000"/>
                </a:solidFill>
              </a:rPr>
              <a:t>шарнир</a:t>
            </a:r>
            <a:r>
              <a:rPr lang="en-US" altLang="ru-RU" sz="1000" dirty="0">
                <a:solidFill>
                  <a:srgbClr val="FF0000"/>
                </a:solidFill>
              </a:rPr>
              <a:t>:</a:t>
            </a:r>
            <a:endParaRPr lang="ru-RU" altLang="ru-RU" sz="1000" dirty="0">
              <a:solidFill>
                <a:srgbClr val="FF0000"/>
              </a:solidFill>
            </a:endParaRPr>
          </a:p>
        </p:txBody>
      </p:sp>
      <p:sp>
        <p:nvSpPr>
          <p:cNvPr id="252153" name="Rectangle 249"/>
          <p:cNvSpPr>
            <a:spLocks noChangeArrowheads="1"/>
          </p:cNvSpPr>
          <p:nvPr/>
        </p:nvSpPr>
        <p:spPr bwMode="auto">
          <a:xfrm>
            <a:off x="5664201" y="3536951"/>
            <a:ext cx="1547813" cy="360363"/>
          </a:xfrm>
          <a:prstGeom prst="rect">
            <a:avLst/>
          </a:prstGeom>
          <a:solidFill>
            <a:srgbClr val="CCFFFF">
              <a:alpha val="45000"/>
            </a:srgbClr>
          </a:solidFill>
          <a:ln w="9525">
            <a:solidFill>
              <a:srgbClr val="00CCFF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252157" name="AutoShape 253"/>
          <p:cNvSpPr>
            <a:spLocks noChangeArrowheads="1"/>
          </p:cNvSpPr>
          <p:nvPr/>
        </p:nvSpPr>
        <p:spPr bwMode="auto">
          <a:xfrm rot="16200000" flipH="1">
            <a:off x="6604794" y="3856832"/>
            <a:ext cx="495300" cy="144462"/>
          </a:xfrm>
          <a:prstGeom prst="rightArrow">
            <a:avLst>
              <a:gd name="adj1" fmla="val 50000"/>
              <a:gd name="adj2" fmla="val 85715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ru-RU" altLang="ru-RU"/>
          </a:p>
        </p:txBody>
      </p:sp>
      <p:sp>
        <p:nvSpPr>
          <p:cNvPr id="252158" name="AutoShape 254"/>
          <p:cNvSpPr>
            <a:spLocks noChangeArrowheads="1"/>
          </p:cNvSpPr>
          <p:nvPr/>
        </p:nvSpPr>
        <p:spPr bwMode="auto">
          <a:xfrm flipH="1">
            <a:off x="6491289" y="3608389"/>
            <a:ext cx="390525" cy="149225"/>
          </a:xfrm>
          <a:prstGeom prst="rightArrow">
            <a:avLst>
              <a:gd name="adj1" fmla="val 50000"/>
              <a:gd name="adj2" fmla="val 6542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ru-RU" altLang="ru-RU"/>
          </a:p>
        </p:txBody>
      </p:sp>
      <p:grpSp>
        <p:nvGrpSpPr>
          <p:cNvPr id="252159" name="Group 255"/>
          <p:cNvGrpSpPr>
            <a:grpSpLocks/>
          </p:cNvGrpSpPr>
          <p:nvPr/>
        </p:nvGrpSpPr>
        <p:grpSpPr bwMode="auto">
          <a:xfrm>
            <a:off x="5591176" y="3860800"/>
            <a:ext cx="612775" cy="469900"/>
            <a:chOff x="657" y="2976"/>
            <a:chExt cx="386" cy="296"/>
          </a:xfrm>
        </p:grpSpPr>
        <p:sp>
          <p:nvSpPr>
            <p:cNvPr id="252160" name="AutoShape 256"/>
            <p:cNvSpPr>
              <a:spLocks noChangeArrowheads="1"/>
            </p:cNvSpPr>
            <p:nvPr/>
          </p:nvSpPr>
          <p:spPr bwMode="auto">
            <a:xfrm>
              <a:off x="726" y="3021"/>
              <a:ext cx="227" cy="113"/>
            </a:xfrm>
            <a:prstGeom prst="triangle">
              <a:avLst>
                <a:gd name="adj" fmla="val 50000"/>
              </a:avLst>
            </a:prstGeom>
            <a:solidFill>
              <a:srgbClr val="C0C0C0">
                <a:alpha val="2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61" name="Oval 257"/>
            <p:cNvSpPr>
              <a:spLocks noChangeArrowheads="1"/>
            </p:cNvSpPr>
            <p:nvPr/>
          </p:nvSpPr>
          <p:spPr bwMode="auto">
            <a:xfrm>
              <a:off x="794" y="2976"/>
              <a:ext cx="91" cy="91"/>
            </a:xfrm>
            <a:prstGeom prst="ellipse">
              <a:avLst/>
            </a:prstGeom>
            <a:solidFill>
              <a:srgbClr val="C0C0C0">
                <a:alpha val="2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62" name="Rectangle 258"/>
            <p:cNvSpPr>
              <a:spLocks noChangeArrowheads="1"/>
            </p:cNvSpPr>
            <p:nvPr/>
          </p:nvSpPr>
          <p:spPr bwMode="auto">
            <a:xfrm>
              <a:off x="657" y="3204"/>
              <a:ext cx="386" cy="68"/>
            </a:xfrm>
            <a:prstGeom prst="rect">
              <a:avLst/>
            </a:prstGeom>
            <a:solidFill>
              <a:srgbClr val="C0C0C0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63" name="Line 259"/>
            <p:cNvSpPr>
              <a:spLocks noChangeShapeType="1"/>
            </p:cNvSpPr>
            <p:nvPr/>
          </p:nvSpPr>
          <p:spPr bwMode="auto">
            <a:xfrm>
              <a:off x="657" y="3204"/>
              <a:ext cx="3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252164" name="Oval 260"/>
            <p:cNvSpPr>
              <a:spLocks noChangeArrowheads="1"/>
            </p:cNvSpPr>
            <p:nvPr/>
          </p:nvSpPr>
          <p:spPr bwMode="auto">
            <a:xfrm>
              <a:off x="748" y="3135"/>
              <a:ext cx="68" cy="68"/>
            </a:xfrm>
            <a:prstGeom prst="ellipse">
              <a:avLst/>
            </a:prstGeom>
            <a:solidFill>
              <a:srgbClr val="C0C0C0">
                <a:alpha val="2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65" name="Oval 261"/>
            <p:cNvSpPr>
              <a:spLocks noChangeArrowheads="1"/>
            </p:cNvSpPr>
            <p:nvPr/>
          </p:nvSpPr>
          <p:spPr bwMode="auto">
            <a:xfrm>
              <a:off x="861" y="3135"/>
              <a:ext cx="68" cy="68"/>
            </a:xfrm>
            <a:prstGeom prst="ellipse">
              <a:avLst/>
            </a:prstGeom>
            <a:solidFill>
              <a:srgbClr val="C0C0C0">
                <a:alpha val="2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grpSp>
        <p:nvGrpSpPr>
          <p:cNvPr id="252167" name="Group 263"/>
          <p:cNvGrpSpPr>
            <a:grpSpLocks/>
          </p:cNvGrpSpPr>
          <p:nvPr/>
        </p:nvGrpSpPr>
        <p:grpSpPr bwMode="auto">
          <a:xfrm>
            <a:off x="5808664" y="3333750"/>
            <a:ext cx="369887" cy="590550"/>
            <a:chOff x="2699" y="2100"/>
            <a:chExt cx="233" cy="372"/>
          </a:xfrm>
        </p:grpSpPr>
        <p:sp>
          <p:nvSpPr>
            <p:cNvPr id="252032" name="AutoShape 128"/>
            <p:cNvSpPr>
              <a:spLocks noChangeArrowheads="1"/>
            </p:cNvSpPr>
            <p:nvPr/>
          </p:nvSpPr>
          <p:spPr bwMode="auto">
            <a:xfrm rot="5400000" flipH="1" flipV="1">
              <a:off x="2589" y="2270"/>
              <a:ext cx="312" cy="91"/>
            </a:xfrm>
            <a:prstGeom prst="rightArrow">
              <a:avLst>
                <a:gd name="adj1" fmla="val 50000"/>
                <a:gd name="adj2" fmla="val 85714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ru-RU" altLang="ru-RU"/>
            </a:p>
          </p:txBody>
        </p:sp>
        <p:graphicFrame>
          <p:nvGraphicFramePr>
            <p:cNvPr id="252166" name="Object 262"/>
            <p:cNvGraphicFramePr>
              <a:graphicFrameLocks noChangeAspect="1"/>
            </p:cNvGraphicFramePr>
            <p:nvPr/>
          </p:nvGraphicFramePr>
          <p:xfrm>
            <a:off x="2828" y="2100"/>
            <a:ext cx="104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9" name="Формула" r:id="rId21" imgW="164880" imgH="190440" progId="Equation.3">
                    <p:embed/>
                  </p:oleObj>
                </mc:Choice>
                <mc:Fallback>
                  <p:oleObj name="Формула" r:id="rId21" imgW="164880" imgH="190440" progId="Equation.3">
                    <p:embed/>
                    <p:pic>
                      <p:nvPicPr>
                        <p:cNvPr id="252166" name="Object 2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8" y="2100"/>
                          <a:ext cx="104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2175" name="Text Box 271"/>
          <p:cNvSpPr txBox="1">
            <a:spLocks noChangeArrowheads="1"/>
          </p:cNvSpPr>
          <p:nvPr/>
        </p:nvSpPr>
        <p:spPr bwMode="auto">
          <a:xfrm>
            <a:off x="7535864" y="3392489"/>
            <a:ext cx="1692275" cy="1200329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 sz="1200" b="1" dirty="0">
                <a:solidFill>
                  <a:srgbClr val="FF0000"/>
                </a:solidFill>
              </a:rPr>
              <a:t>Реакция подвижного</a:t>
            </a:r>
          </a:p>
          <a:p>
            <a:r>
              <a:rPr lang="ru-RU" altLang="ru-RU" sz="1200" b="1" dirty="0">
                <a:solidFill>
                  <a:srgbClr val="FF0000"/>
                </a:solidFill>
              </a:rPr>
              <a:t>шарнира проходит через центр шарнира перпендикулярно оси шарнира и</a:t>
            </a:r>
            <a:r>
              <a:rPr lang="en-US" altLang="ru-RU" sz="1200" b="1" dirty="0">
                <a:solidFill>
                  <a:srgbClr val="FF0000"/>
                </a:solidFill>
              </a:rPr>
              <a:t> </a:t>
            </a:r>
            <a:r>
              <a:rPr lang="ru-RU" altLang="ru-RU" sz="1200" b="1" dirty="0">
                <a:solidFill>
                  <a:srgbClr val="FF0000"/>
                </a:solidFill>
              </a:rPr>
              <a:t>плоскости опоры.</a:t>
            </a:r>
          </a:p>
        </p:txBody>
      </p:sp>
      <p:sp>
        <p:nvSpPr>
          <p:cNvPr id="252223" name="Text Box 319"/>
          <p:cNvSpPr txBox="1">
            <a:spLocks noChangeArrowheads="1"/>
          </p:cNvSpPr>
          <p:nvPr/>
        </p:nvSpPr>
        <p:spPr bwMode="auto">
          <a:xfrm>
            <a:off x="6139217" y="4843973"/>
            <a:ext cx="203446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200" dirty="0"/>
              <a:t>5. </a:t>
            </a:r>
            <a:r>
              <a:rPr lang="ru-RU" altLang="ru-RU" sz="1200" dirty="0">
                <a:solidFill>
                  <a:srgbClr val="FF0000"/>
                </a:solidFill>
              </a:rPr>
              <a:t>Жесткая плоская заделка</a:t>
            </a:r>
            <a:r>
              <a:rPr lang="en-US" altLang="ru-RU" sz="1200" dirty="0">
                <a:solidFill>
                  <a:srgbClr val="FF0000"/>
                </a:solidFill>
              </a:rPr>
              <a:t>:</a:t>
            </a:r>
            <a:endParaRPr lang="ru-RU" altLang="ru-RU" sz="1200" dirty="0">
              <a:solidFill>
                <a:srgbClr val="FF0000"/>
              </a:solidFill>
            </a:endParaRPr>
          </a:p>
        </p:txBody>
      </p:sp>
      <p:grpSp>
        <p:nvGrpSpPr>
          <p:cNvPr id="252225" name="Group 321"/>
          <p:cNvGrpSpPr>
            <a:grpSpLocks/>
          </p:cNvGrpSpPr>
          <p:nvPr/>
        </p:nvGrpSpPr>
        <p:grpSpPr bwMode="auto">
          <a:xfrm rot="5400000">
            <a:off x="6402389" y="5895976"/>
            <a:ext cx="612775" cy="288925"/>
            <a:chOff x="2675" y="3113"/>
            <a:chExt cx="386" cy="68"/>
          </a:xfrm>
        </p:grpSpPr>
        <p:sp>
          <p:nvSpPr>
            <p:cNvPr id="252226" name="Rectangle 322"/>
            <p:cNvSpPr>
              <a:spLocks noChangeArrowheads="1"/>
            </p:cNvSpPr>
            <p:nvPr/>
          </p:nvSpPr>
          <p:spPr bwMode="auto">
            <a:xfrm>
              <a:off x="2675" y="3113"/>
              <a:ext cx="386" cy="68"/>
            </a:xfrm>
            <a:prstGeom prst="rect">
              <a:avLst/>
            </a:prstGeom>
            <a:solidFill>
              <a:srgbClr val="C0C0C0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227" name="Line 323"/>
            <p:cNvSpPr>
              <a:spLocks noChangeShapeType="1"/>
            </p:cNvSpPr>
            <p:nvPr/>
          </p:nvSpPr>
          <p:spPr bwMode="auto">
            <a:xfrm>
              <a:off x="2675" y="3113"/>
              <a:ext cx="3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52178" name="Group 274"/>
          <p:cNvGrpSpPr>
            <a:grpSpLocks/>
          </p:cNvGrpSpPr>
          <p:nvPr/>
        </p:nvGrpSpPr>
        <p:grpSpPr bwMode="auto">
          <a:xfrm rot="5400000">
            <a:off x="6402389" y="5895976"/>
            <a:ext cx="612775" cy="288925"/>
            <a:chOff x="2675" y="3113"/>
            <a:chExt cx="386" cy="68"/>
          </a:xfrm>
        </p:grpSpPr>
        <p:sp>
          <p:nvSpPr>
            <p:cNvPr id="252171" name="Rectangle 267"/>
            <p:cNvSpPr>
              <a:spLocks noChangeArrowheads="1"/>
            </p:cNvSpPr>
            <p:nvPr/>
          </p:nvSpPr>
          <p:spPr bwMode="auto">
            <a:xfrm>
              <a:off x="2675" y="3113"/>
              <a:ext cx="386" cy="6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172" name="Line 268"/>
            <p:cNvSpPr>
              <a:spLocks noChangeShapeType="1"/>
            </p:cNvSpPr>
            <p:nvPr/>
          </p:nvSpPr>
          <p:spPr bwMode="auto">
            <a:xfrm>
              <a:off x="2675" y="3113"/>
              <a:ext cx="3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52237" name="Group 333"/>
          <p:cNvGrpSpPr>
            <a:grpSpLocks/>
          </p:cNvGrpSpPr>
          <p:nvPr/>
        </p:nvGrpSpPr>
        <p:grpSpPr bwMode="auto">
          <a:xfrm>
            <a:off x="6635753" y="5984876"/>
            <a:ext cx="2016125" cy="574675"/>
            <a:chOff x="3220" y="3771"/>
            <a:chExt cx="1270" cy="362"/>
          </a:xfrm>
        </p:grpSpPr>
        <p:sp>
          <p:nvSpPr>
            <p:cNvPr id="252224" name="Rectangle 320"/>
            <p:cNvSpPr>
              <a:spLocks noChangeArrowheads="1"/>
            </p:cNvSpPr>
            <p:nvPr/>
          </p:nvSpPr>
          <p:spPr bwMode="auto">
            <a:xfrm>
              <a:off x="3333" y="3771"/>
              <a:ext cx="1157" cy="91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252228" name="AutoShape 324"/>
            <p:cNvSpPr>
              <a:spLocks noChangeArrowheads="1"/>
            </p:cNvSpPr>
            <p:nvPr/>
          </p:nvSpPr>
          <p:spPr bwMode="auto">
            <a:xfrm rot="16200000" flipH="1">
              <a:off x="4244" y="3931"/>
              <a:ext cx="312" cy="91"/>
            </a:xfrm>
            <a:prstGeom prst="rightArrow">
              <a:avLst>
                <a:gd name="adj1" fmla="val 50000"/>
                <a:gd name="adj2" fmla="val 85714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252234" name="Text Box 330"/>
            <p:cNvSpPr txBox="1">
              <a:spLocks noChangeArrowheads="1"/>
            </p:cNvSpPr>
            <p:nvPr/>
          </p:nvSpPr>
          <p:spPr bwMode="auto">
            <a:xfrm>
              <a:off x="3220" y="3828"/>
              <a:ext cx="18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/>
              <a:r>
                <a:rPr lang="en-US" altLang="ru-RU" sz="1400" i="1"/>
                <a:t>A</a:t>
              </a:r>
              <a:endParaRPr lang="ru-RU" altLang="ru-RU" sz="1400" i="1"/>
            </a:p>
          </p:txBody>
        </p:sp>
      </p:grpSp>
      <p:sp>
        <p:nvSpPr>
          <p:cNvPr id="252236" name="Rectangle 332"/>
          <p:cNvSpPr>
            <a:spLocks noChangeArrowheads="1"/>
          </p:cNvSpPr>
          <p:nvPr/>
        </p:nvSpPr>
        <p:spPr bwMode="auto">
          <a:xfrm>
            <a:off x="6780214" y="5913439"/>
            <a:ext cx="1944687" cy="287337"/>
          </a:xfrm>
          <a:prstGeom prst="rect">
            <a:avLst/>
          </a:prstGeom>
          <a:solidFill>
            <a:srgbClr val="CCFFFF">
              <a:alpha val="45000"/>
            </a:srgbClr>
          </a:solidFill>
          <a:ln w="9525">
            <a:solidFill>
              <a:srgbClr val="00CCFF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grpSp>
        <p:nvGrpSpPr>
          <p:cNvPr id="252243" name="Group 339"/>
          <p:cNvGrpSpPr>
            <a:grpSpLocks/>
          </p:cNvGrpSpPr>
          <p:nvPr/>
        </p:nvGrpSpPr>
        <p:grpSpPr bwMode="auto">
          <a:xfrm>
            <a:off x="6419851" y="5457829"/>
            <a:ext cx="1108075" cy="715963"/>
            <a:chOff x="4689" y="3273"/>
            <a:chExt cx="698" cy="451"/>
          </a:xfrm>
        </p:grpSpPr>
        <p:sp>
          <p:nvSpPr>
            <p:cNvPr id="252004" name="AutoShape 100"/>
            <p:cNvSpPr>
              <a:spLocks noChangeArrowheads="1"/>
            </p:cNvSpPr>
            <p:nvPr/>
          </p:nvSpPr>
          <p:spPr bwMode="auto">
            <a:xfrm rot="5400000" flipH="1" flipV="1">
              <a:off x="4783" y="3449"/>
              <a:ext cx="312" cy="91"/>
            </a:xfrm>
            <a:prstGeom prst="rightArrow">
              <a:avLst>
                <a:gd name="adj1" fmla="val 50000"/>
                <a:gd name="adj2" fmla="val 85714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252238" name="AutoShape 334"/>
            <p:cNvSpPr>
              <a:spLocks noChangeArrowheads="1"/>
            </p:cNvSpPr>
            <p:nvPr/>
          </p:nvSpPr>
          <p:spPr bwMode="auto">
            <a:xfrm rot="10800000" flipH="1" flipV="1">
              <a:off x="4915" y="3611"/>
              <a:ext cx="312" cy="91"/>
            </a:xfrm>
            <a:prstGeom prst="rightArrow">
              <a:avLst>
                <a:gd name="adj1" fmla="val 50000"/>
                <a:gd name="adj2" fmla="val 85714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ru-RU" altLang="ru-RU"/>
            </a:p>
          </p:txBody>
        </p:sp>
        <p:sp>
          <p:nvSpPr>
            <p:cNvPr id="252239" name="AutoShape 335"/>
            <p:cNvSpPr>
              <a:spLocks noChangeArrowheads="1"/>
            </p:cNvSpPr>
            <p:nvPr/>
          </p:nvSpPr>
          <p:spPr bwMode="auto">
            <a:xfrm rot="10800000" flipV="1">
              <a:off x="4802" y="3475"/>
              <a:ext cx="249" cy="249"/>
            </a:xfrm>
            <a:custGeom>
              <a:avLst/>
              <a:gdLst>
                <a:gd name="G0" fmla="+- 0 0 0"/>
                <a:gd name="G1" fmla="+- -11796480 0 0"/>
                <a:gd name="G2" fmla="+- 0 0 -11796480"/>
                <a:gd name="G3" fmla="+- 10800 0 0"/>
                <a:gd name="G4" fmla="+- 0 0 0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5400 0 0"/>
                <a:gd name="G9" fmla="+- 0 0 -11796480"/>
                <a:gd name="G10" fmla="+- 5400 0 2700"/>
                <a:gd name="G11" fmla="cos G10 0"/>
                <a:gd name="G12" fmla="sin G10 0"/>
                <a:gd name="G13" fmla="cos 13500 0"/>
                <a:gd name="G14" fmla="sin 13500 0"/>
                <a:gd name="G15" fmla="+- G11 10800 0"/>
                <a:gd name="G16" fmla="+- G12 10800 0"/>
                <a:gd name="G17" fmla="+- G13 10800 0"/>
                <a:gd name="G18" fmla="+- G14 10800 0"/>
                <a:gd name="G19" fmla="*/ 5400 1 2"/>
                <a:gd name="G20" fmla="+- G19 5400 0"/>
                <a:gd name="G21" fmla="cos G20 0"/>
                <a:gd name="G22" fmla="sin G20 0"/>
                <a:gd name="G23" fmla="+- G21 10800 0"/>
                <a:gd name="G24" fmla="+- G12 G23 G22"/>
                <a:gd name="G25" fmla="+- G22 G23 G11"/>
                <a:gd name="G26" fmla="cos 10800 0"/>
                <a:gd name="G27" fmla="sin 10800 0"/>
                <a:gd name="G28" fmla="cos 5400 0"/>
                <a:gd name="G29" fmla="sin 5400 0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0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5400 G39"/>
                <a:gd name="G43" fmla="sin 5400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10800 w 21600"/>
                <a:gd name="T5" fmla="*/ 0 h 21600"/>
                <a:gd name="T6" fmla="*/ 2700 w 21600"/>
                <a:gd name="T7" fmla="*/ 10799 h 21600"/>
                <a:gd name="T8" fmla="*/ 10800 w 21600"/>
                <a:gd name="T9" fmla="*/ 5400 h 21600"/>
                <a:gd name="T10" fmla="*/ 24300 w 21600"/>
                <a:gd name="T11" fmla="*/ 10800 h 21600"/>
                <a:gd name="T12" fmla="*/ 18900 w 21600"/>
                <a:gd name="T13" fmla="*/ 16200 h 21600"/>
                <a:gd name="T14" fmla="*/ 13500 w 21600"/>
                <a:gd name="T15" fmla="*/ 10800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7817" y="5400"/>
                    <a:pt x="5400" y="7817"/>
                    <a:pt x="5400" y="10800"/>
                  </a:cubicBezTo>
                  <a:lnTo>
                    <a:pt x="0" y="10799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graphicFrame>
          <p:nvGraphicFramePr>
            <p:cNvPr id="252240" name="Object 3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0455713"/>
                </p:ext>
              </p:extLst>
            </p:nvPr>
          </p:nvGraphicFramePr>
          <p:xfrm>
            <a:off x="5243" y="3609"/>
            <a:ext cx="144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0" name="Уравнение" r:id="rId23" imgW="228600" imgH="177480" progId="Equation.3">
                    <p:embed/>
                  </p:oleObj>
                </mc:Choice>
                <mc:Fallback>
                  <p:oleObj name="Уравнение" r:id="rId23" imgW="228600" imgH="177480" progId="Equation.3">
                    <p:embed/>
                    <p:pic>
                      <p:nvPicPr>
                        <p:cNvPr id="252240" name="Object 3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3" y="3609"/>
                          <a:ext cx="144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2241" name="Object 3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0321432"/>
                </p:ext>
              </p:extLst>
            </p:nvPr>
          </p:nvGraphicFramePr>
          <p:xfrm>
            <a:off x="5025" y="3273"/>
            <a:ext cx="128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" name="Уравнение" r:id="rId25" imgW="203040" imgH="177480" progId="Equation.3">
                    <p:embed/>
                  </p:oleObj>
                </mc:Choice>
                <mc:Fallback>
                  <p:oleObj name="Уравнение" r:id="rId25" imgW="203040" imgH="177480" progId="Equation.3">
                    <p:embed/>
                    <p:pic>
                      <p:nvPicPr>
                        <p:cNvPr id="252241" name="Object 3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5" y="3273"/>
                          <a:ext cx="128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2242" name="Object 338"/>
            <p:cNvGraphicFramePr>
              <a:graphicFrameLocks noChangeAspect="1"/>
            </p:cNvGraphicFramePr>
            <p:nvPr/>
          </p:nvGraphicFramePr>
          <p:xfrm>
            <a:off x="4689" y="3317"/>
            <a:ext cx="160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2" name="Формула" r:id="rId27" imgW="253800" imgH="215640" progId="Equation.3">
                    <p:embed/>
                  </p:oleObj>
                </mc:Choice>
                <mc:Fallback>
                  <p:oleObj name="Формула" r:id="rId27" imgW="253800" imgH="215640" progId="Equation.3">
                    <p:embed/>
                    <p:pic>
                      <p:nvPicPr>
                        <p:cNvPr id="252242" name="Object 3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9" y="3317"/>
                          <a:ext cx="160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2244" name="Text Box 340"/>
          <p:cNvSpPr txBox="1">
            <a:spLocks noChangeArrowheads="1"/>
          </p:cNvSpPr>
          <p:nvPr/>
        </p:nvSpPr>
        <p:spPr bwMode="auto">
          <a:xfrm>
            <a:off x="8364539" y="4760913"/>
            <a:ext cx="2399034" cy="83099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1200" b="1" dirty="0">
                <a:solidFill>
                  <a:srgbClr val="FF0000"/>
                </a:solidFill>
              </a:rPr>
              <a:t>В жесткой плоской заделке </a:t>
            </a:r>
            <a:r>
              <a:rPr lang="ru-RU" sz="1200" b="1" dirty="0">
                <a:solidFill>
                  <a:srgbClr val="FF0000"/>
                </a:solidFill>
              </a:rPr>
              <a:t>возникают две силы реакции, направленные по двум осям (</a:t>
            </a:r>
            <a:r>
              <a:rPr lang="en-US" sz="1200" b="1" dirty="0">
                <a:solidFill>
                  <a:srgbClr val="FF0000"/>
                </a:solidFill>
              </a:rPr>
              <a:t>X</a:t>
            </a:r>
            <a:r>
              <a:rPr lang="ru-RU" sz="1200" b="1" dirty="0">
                <a:solidFill>
                  <a:srgbClr val="FF0000"/>
                </a:solidFill>
              </a:rPr>
              <a:t> и </a:t>
            </a:r>
            <a:r>
              <a:rPr lang="en-US" sz="1200" b="1" dirty="0">
                <a:solidFill>
                  <a:srgbClr val="FF0000"/>
                </a:solidFill>
              </a:rPr>
              <a:t>Y</a:t>
            </a:r>
            <a:r>
              <a:rPr lang="ru-RU" sz="1200" b="1" dirty="0">
                <a:solidFill>
                  <a:srgbClr val="FF0000"/>
                </a:solidFill>
              </a:rPr>
              <a:t>), и момент </a:t>
            </a:r>
            <a:r>
              <a:rPr lang="en-US" sz="1200" b="1" dirty="0">
                <a:solidFill>
                  <a:srgbClr val="FF0000"/>
                </a:solidFill>
              </a:rPr>
              <a:t>M</a:t>
            </a:r>
            <a:r>
              <a:rPr lang="en-US" sz="1200" b="1" baseline="-25000" dirty="0">
                <a:solidFill>
                  <a:srgbClr val="FF0000"/>
                </a:solidFill>
              </a:rPr>
              <a:t>A</a:t>
            </a:r>
            <a:r>
              <a:rPr lang="ru-RU" sz="1200" baseline="-25000" dirty="0"/>
              <a:t>.</a:t>
            </a:r>
            <a:r>
              <a:rPr lang="ru-RU" altLang="ru-RU" sz="12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252245" name="Text Box 341"/>
          <p:cNvSpPr txBox="1">
            <a:spLocks noChangeArrowheads="1"/>
          </p:cNvSpPr>
          <p:nvPr/>
        </p:nvSpPr>
        <p:spPr bwMode="auto">
          <a:xfrm>
            <a:off x="4620458" y="315694"/>
            <a:ext cx="7189250" cy="830997"/>
          </a:xfrm>
          <a:prstGeom prst="rect">
            <a:avLst/>
          </a:prstGeom>
          <a:solidFill>
            <a:schemeClr val="bg2"/>
          </a:solidFill>
          <a:ln w="222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ru-RU" altLang="ru-RU" sz="1200" b="1" dirty="0"/>
              <a:t>Общее правило</a:t>
            </a:r>
            <a:r>
              <a:rPr lang="en-US" altLang="ru-RU" sz="1200" b="1" dirty="0"/>
              <a:t> </a:t>
            </a:r>
            <a:r>
              <a:rPr lang="ru-RU" altLang="ru-RU" sz="1200" b="1" dirty="0"/>
              <a:t>для связей любого вида</a:t>
            </a:r>
            <a:r>
              <a:rPr lang="en-US" altLang="ru-RU" sz="1200" b="1" dirty="0"/>
              <a:t>:</a:t>
            </a:r>
          </a:p>
          <a:p>
            <a:r>
              <a:rPr lang="ru-RU" altLang="ru-RU" sz="1200" b="1" dirty="0"/>
              <a:t>Если связь препятствует одному или нескольким перемещениям (максимальное число перемещений – три поступательных и три вращательных), то по направлению именно этих  и только этих перемещений возникают соответствующие реакции (силы и моменты). </a:t>
            </a:r>
          </a:p>
        </p:txBody>
      </p:sp>
    </p:spTree>
    <p:extLst>
      <p:ext uri="{BB962C8B-B14F-4D97-AF65-F5344CB8AC3E}">
        <p14:creationId xmlns:p14="http://schemas.microsoft.com/office/powerpoint/2010/main" val="2540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520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2520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2519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2519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2520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5" dur="500"/>
                                        <p:tgtEl>
                                          <p:spTgt spid="252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2" dur="500"/>
                                        <p:tgtEl>
                                          <p:spTgt spid="252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7" dur="500"/>
                                        <p:tgtEl>
                                          <p:spTgt spid="252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0" dur="500"/>
                                        <p:tgtEl>
                                          <p:spTgt spid="252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2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2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7" dur="500"/>
                                        <p:tgtEl>
                                          <p:spTgt spid="252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2" dur="500"/>
                                        <p:tgtEl>
                                          <p:spTgt spid="252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5" dur="500"/>
                                        <p:tgtEl>
                                          <p:spTgt spid="252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8" dur="500"/>
                                        <p:tgtEl>
                                          <p:spTgt spid="252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2000" fill="hold"/>
                                        <p:tgtEl>
                                          <p:spTgt spid="252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2000" fill="hold"/>
                                        <p:tgtEl>
                                          <p:spTgt spid="252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2000" fill="hold"/>
                                        <p:tgtEl>
                                          <p:spTgt spid="252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2000" fill="hold"/>
                                        <p:tgtEl>
                                          <p:spTgt spid="252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009" grpId="0" animBg="1"/>
      <p:bldP spid="252010" grpId="0"/>
      <p:bldP spid="252031" grpId="0" animBg="1"/>
      <p:bldP spid="252057" grpId="0" animBg="1"/>
      <p:bldP spid="252108" grpId="0"/>
      <p:bldP spid="252118" grpId="0" animBg="1"/>
      <p:bldP spid="252117" grpId="0" animBg="1"/>
      <p:bldP spid="252131" grpId="0" animBg="1"/>
      <p:bldP spid="252148" grpId="0" animBg="1"/>
      <p:bldP spid="252152" grpId="0"/>
      <p:bldP spid="252157" grpId="0" animBg="1"/>
      <p:bldP spid="252158" grpId="0" animBg="1"/>
      <p:bldP spid="252175" grpId="0" animBg="1"/>
      <p:bldP spid="252223" grpId="0"/>
      <p:bldP spid="252244" grpId="0" animBg="1"/>
      <p:bldP spid="25224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911539"/>
              </p:ext>
            </p:extLst>
          </p:nvPr>
        </p:nvGraphicFramePr>
        <p:xfrm>
          <a:off x="805911" y="542475"/>
          <a:ext cx="3959817" cy="1667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Visio" r:id="rId3" imgW="3673983" imgH="1559052" progId="Visio.Drawing.11">
                  <p:embed/>
                </p:oleObj>
              </mc:Choice>
              <mc:Fallback>
                <p:oleObj name="Visio" r:id="rId3" imgW="3673983" imgH="155905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911" y="542475"/>
                        <a:ext cx="3959817" cy="16672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5279756" y="557974"/>
            <a:ext cx="6018510" cy="65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</a:pPr>
            <a:r>
              <a:rPr lang="ru-RU" sz="1600" b="1" i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Жесткий невесомый стержень</a:t>
            </a: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с двух сторон имеющий шарниры. 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В этом случае реакции связей направлены вдоль стержня.</a:t>
            </a:r>
            <a:endParaRPr lang="ru-RU" sz="14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0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9558" y="281931"/>
            <a:ext cx="7684577" cy="1791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600" b="1" u="sng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Примеры решения задач по статике</a:t>
            </a:r>
            <a:endParaRPr lang="ru-RU" sz="1600" b="1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Пример № 1. Определить реакции опор горизонтальной балки от заданной нагрузки.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Дано: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Схема балки (рис. 1)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Р=20кН, </a:t>
            </a:r>
            <a:r>
              <a:rPr lang="en-US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=10кН, М=4кН*М, </a:t>
            </a:r>
            <a:r>
              <a:rPr lang="en-US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=2кН/м, а=2 м, в = 3м, α=30</a:t>
            </a:r>
            <a:r>
              <a:rPr lang="ru-RU" sz="1600" b="1" baseline="30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ru-RU" sz="1600" b="1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16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Определить реакции опор в точках Аи В.</a:t>
            </a:r>
            <a:endParaRPr lang="ru-RU" sz="16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161654" y="40683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816938"/>
              </p:ext>
            </p:extLst>
          </p:nvPr>
        </p:nvGraphicFramePr>
        <p:xfrm>
          <a:off x="1921788" y="2347992"/>
          <a:ext cx="9729126" cy="398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Visio" r:id="rId3" imgW="6004941" imgH="2461260" progId="Visio.Drawing.11">
                  <p:embed/>
                </p:oleObj>
              </mc:Choice>
              <mc:Fallback>
                <p:oleObj name="Visio" r:id="rId3" imgW="6004941" imgH="246126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788" y="2347992"/>
                        <a:ext cx="9729126" cy="39830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5014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8935" y="395118"/>
            <a:ext cx="1571264" cy="3588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600" b="1" u="sng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Расчетная схема</a:t>
            </a:r>
            <a:endParaRPr lang="ru-RU" sz="14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67166" y="12398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17" y="3590357"/>
            <a:ext cx="7038975" cy="7334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17" y="4400907"/>
            <a:ext cx="7058025" cy="92392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17" y="5452799"/>
            <a:ext cx="4943475" cy="65722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17" y="6187149"/>
            <a:ext cx="4381500" cy="3524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5692" y="5019411"/>
            <a:ext cx="6943725" cy="86677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5692" y="5886186"/>
            <a:ext cx="5915025" cy="809625"/>
          </a:xfrm>
          <a:prstGeom prst="rect">
            <a:avLst/>
          </a:prstGeom>
        </p:spPr>
      </p:pic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596891"/>
              </p:ext>
            </p:extLst>
          </p:nvPr>
        </p:nvGraphicFramePr>
        <p:xfrm>
          <a:off x="2627487" y="486280"/>
          <a:ext cx="7892778" cy="3104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Visio" r:id="rId9" imgW="6755892" imgH="2656713" progId="Visio.Drawing.11">
                  <p:embed/>
                </p:oleObj>
              </mc:Choice>
              <mc:Fallback>
                <p:oleObj name="Visio" r:id="rId9" imgW="6755892" imgH="265671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487" y="486280"/>
                        <a:ext cx="7892778" cy="31040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36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534"/>
            <a:ext cx="7229475" cy="280035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40" y="3309899"/>
            <a:ext cx="5100638" cy="684431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540" y="4105778"/>
            <a:ext cx="5921776" cy="506676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40" y="4723902"/>
            <a:ext cx="11414372" cy="66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4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392</Words>
  <Application>Microsoft Office PowerPoint</Application>
  <PresentationFormat>Широкоэкранный</PresentationFormat>
  <Paragraphs>42</Paragraphs>
  <Slides>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Тема Office</vt:lpstr>
      <vt:lpstr>Visio</vt:lpstr>
      <vt:lpstr>Уравнение</vt:lpstr>
      <vt:lpstr>Формула</vt:lpstr>
      <vt:lpstr>Распределенная нагрузка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</dc:creator>
  <cp:lastModifiedBy>Рустам Шайхиев</cp:lastModifiedBy>
  <cp:revision>15</cp:revision>
  <dcterms:created xsi:type="dcterms:W3CDTF">2017-02-20T04:00:53Z</dcterms:created>
  <dcterms:modified xsi:type="dcterms:W3CDTF">2020-06-25T08:42:10Z</dcterms:modified>
</cp:coreProperties>
</file>