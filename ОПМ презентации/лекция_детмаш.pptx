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576" autoAdjust="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E2FF5-F0CB-4B7C-B413-FBEE83B0F05C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C1B89-5CC6-4A2D-B324-85FE8F64FDE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C2406-5FD4-42F8-B4C1-142752DF5A81}" type="datetimeFigureOut">
              <a:rPr lang="ru-RU" smtClean="0"/>
              <a:pPr/>
              <a:t>05.03.2015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1DCFE-6139-43D7-AC44-79D74EE319C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352839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Машина, сборочная единица, деталь. Основные требования, предъявляемые к сборочным единицам и деталям. Классификация деталей машин.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192688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ru-RU" sz="2800" i="1" dirty="0"/>
              <a:t>Детали машин - прикладная научная дисциплина, изучающая общеинженерные методы проектирования (расчета и конструирования) </a:t>
            </a:r>
            <a:r>
              <a:rPr lang="ru-RU" sz="2800" i="1" dirty="0" smtClean="0"/>
              <a:t>элементов </a:t>
            </a:r>
            <a:r>
              <a:rPr lang="ru-RU" sz="2800" i="1" dirty="0"/>
              <a:t>машин и механизмов.</a:t>
            </a:r>
            <a:r>
              <a:rPr lang="ru-RU" sz="2800" dirty="0"/>
              <a:t> </a:t>
            </a:r>
            <a:endParaRPr lang="ru-RU" sz="2800" dirty="0" smtClean="0"/>
          </a:p>
          <a:p>
            <a:pPr>
              <a:buNone/>
            </a:pPr>
            <a:r>
              <a:rPr lang="ru-RU" sz="2800" dirty="0"/>
              <a:t>Цель курса - создать теоретическую базу для последующего изучения конструкции машин, их эксплуатации и ремонта с учетом критериев работоспособности, </a:t>
            </a:r>
            <a:r>
              <a:rPr lang="ru-RU" sz="2800" dirty="0" smtClean="0"/>
              <a:t>надежности </a:t>
            </a:r>
            <a:r>
              <a:rPr lang="ru-RU" sz="2800" dirty="0"/>
              <a:t>и технологичности.</a:t>
            </a:r>
          </a:p>
          <a:p>
            <a:pPr>
              <a:buNone/>
            </a:pPr>
            <a:r>
              <a:rPr lang="ru-RU" sz="2800" dirty="0"/>
              <a:t>Задача курса - изучение типовых конструкций элементов механизмов общепромышленного применения, основных принципов их </a:t>
            </a:r>
            <a:r>
              <a:rPr lang="ru-RU" sz="2800" dirty="0" smtClean="0"/>
              <a:t>работы </a:t>
            </a:r>
            <a:r>
              <a:rPr lang="ru-RU" sz="2800" dirty="0"/>
              <a:t>и методов проектирования, включая расчет параметров и </a:t>
            </a:r>
            <a:r>
              <a:rPr lang="ru-RU" sz="2800" dirty="0" smtClean="0"/>
              <a:t>конструктивные </a:t>
            </a:r>
            <a:r>
              <a:rPr lang="ru-RU" sz="2800" dirty="0"/>
              <a:t>особенности.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1926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800" dirty="0"/>
              <a:t> </a:t>
            </a:r>
            <a:endParaRPr lang="ru-RU" sz="2800" dirty="0" smtClean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ru-RU" sz="2800" dirty="0" smtClean="0"/>
              <a:t>ДЕТАЛЬ </a:t>
            </a:r>
            <a:r>
              <a:rPr lang="ru-RU" sz="2800" dirty="0"/>
              <a:t>–  (</a:t>
            </a:r>
            <a:r>
              <a:rPr lang="ru-RU" sz="2800" i="1" dirty="0"/>
              <a:t>франц. </a:t>
            </a:r>
            <a:r>
              <a:rPr lang="en-US" sz="2800" i="1" dirty="0"/>
              <a:t>detail</a:t>
            </a:r>
            <a:r>
              <a:rPr lang="ru-RU" sz="2800" i="1" dirty="0"/>
              <a:t> – кусочек</a:t>
            </a:r>
            <a:r>
              <a:rPr lang="ru-RU" sz="2800" dirty="0"/>
              <a:t>) – изделие, изготовленное из однородного по наименованию и марке материала без применения  сборочных операций (ГОСТ 2.101-68). Наименьшая неделимая (не разбираемая) часть машины, агрегата, механизма, прибора, узла</a:t>
            </a:r>
            <a:r>
              <a:rPr lang="ru-RU" sz="2800" dirty="0" smtClean="0"/>
              <a:t>.</a:t>
            </a:r>
            <a:endParaRPr lang="ru-RU" sz="2800" dirty="0"/>
          </a:p>
          <a:p>
            <a:pPr>
              <a:buNone/>
            </a:pPr>
            <a:r>
              <a:rPr lang="ru-RU" sz="2800" dirty="0"/>
              <a:t>ЗВЕНО –  группа деталей, образующая подвижную или неподвижную относительно друг друга механическую систему </a:t>
            </a:r>
            <a:r>
              <a:rPr lang="ru-RU" sz="2800" dirty="0" smtClean="0"/>
              <a:t>тел.</a:t>
            </a:r>
          </a:p>
          <a:p>
            <a:pPr algn="just">
              <a:buNone/>
            </a:pP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192688"/>
          </a:xfrm>
        </p:spPr>
        <p:txBody>
          <a:bodyPr>
            <a:noAutofit/>
          </a:bodyPr>
          <a:lstStyle/>
          <a:p>
            <a:pPr>
              <a:buNone/>
            </a:pPr>
            <a:endParaRPr lang="ru-RU" sz="2800" dirty="0" smtClean="0"/>
          </a:p>
          <a:p>
            <a:pPr>
              <a:buNone/>
            </a:pPr>
            <a:r>
              <a:rPr lang="ru-RU" sz="2800" dirty="0" smtClean="0"/>
              <a:t>СБОРОЧНАЯ  ЕДИНИЦА – изделие или часть его (часть машины), составные части которого подлежат соединению между собой (собираются) на предприятии изготовителе (смежном предприятии). Сборочная единица имеет, как правило, определенное функциональное назначение.</a:t>
            </a:r>
          </a:p>
          <a:p>
            <a:pPr>
              <a:buNone/>
            </a:pPr>
            <a:endParaRPr lang="ru-RU" sz="2800" dirty="0" smtClean="0"/>
          </a:p>
          <a:p>
            <a:pPr algn="just">
              <a:buNone/>
            </a:pPr>
            <a:r>
              <a:rPr lang="ru-RU" sz="2800" dirty="0"/>
              <a:t>УЗЕЛ – законченная сборочная единица, состоящая из деталей общего функционального назначения.</a:t>
            </a:r>
          </a:p>
          <a:p>
            <a:pPr algn="just">
              <a:buNone/>
            </a:pP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88640"/>
            <a:ext cx="8424936" cy="61926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dirty="0"/>
              <a:t>Детали и узлы общего назначения делятся на три группы</a:t>
            </a:r>
            <a:r>
              <a:rPr lang="ru-RU" dirty="0" smtClean="0"/>
              <a:t>:</a:t>
            </a:r>
            <a:r>
              <a:rPr lang="ru-RU" sz="2800" dirty="0"/>
              <a:t/>
            </a:r>
            <a:br>
              <a:rPr lang="ru-RU" sz="2800" dirty="0"/>
            </a:br>
            <a:endParaRPr lang="ru-RU" sz="2800" dirty="0" smtClean="0"/>
          </a:p>
          <a:p>
            <a:pPr marL="0" indent="-324000" algn="just">
              <a:spcBef>
                <a:spcPts val="0"/>
              </a:spcBef>
              <a:buNone/>
            </a:pPr>
            <a:r>
              <a:rPr lang="ru-RU" sz="2800" dirty="0" smtClean="0"/>
              <a:t>1.</a:t>
            </a:r>
            <a:r>
              <a:rPr lang="ru-RU" sz="2800" dirty="0"/>
              <a:t> </a:t>
            </a:r>
            <a:r>
              <a:rPr lang="ru-RU" sz="2800" i="1" dirty="0"/>
              <a:t>соединительные детали</a:t>
            </a:r>
            <a:r>
              <a:rPr lang="ru-RU" sz="2800" dirty="0"/>
              <a:t> и </a:t>
            </a:r>
            <a:r>
              <a:rPr lang="ru-RU" sz="2800" i="1" dirty="0"/>
              <a:t>соединения</a:t>
            </a:r>
            <a:r>
              <a:rPr lang="ru-RU" sz="2800" dirty="0"/>
              <a:t>, которые подразделяются </a:t>
            </a:r>
            <a:r>
              <a:rPr lang="ru-RU" sz="2800" dirty="0" smtClean="0"/>
              <a:t>на:</a:t>
            </a:r>
            <a:r>
              <a:rPr lang="ru-RU" sz="2800" dirty="0"/>
              <a:t> </a:t>
            </a:r>
            <a:endParaRPr lang="ru-RU" sz="2800" dirty="0" smtClean="0"/>
          </a:p>
          <a:p>
            <a:pPr marL="0" indent="-324000" algn="just">
              <a:spcBef>
                <a:spcPts val="0"/>
              </a:spcBef>
              <a:buNone/>
            </a:pPr>
            <a:r>
              <a:rPr lang="ru-RU" sz="2800" i="1" dirty="0" smtClean="0"/>
              <a:t>- неразъемные</a:t>
            </a:r>
            <a:r>
              <a:rPr lang="ru-RU" sz="2800" dirty="0"/>
              <a:t> (сварные, заклепочные, клеевые и др.) </a:t>
            </a:r>
            <a:endParaRPr lang="ru-RU" sz="2800" dirty="0" smtClean="0"/>
          </a:p>
          <a:p>
            <a:pPr marL="0" indent="-324000">
              <a:spcBef>
                <a:spcPts val="0"/>
              </a:spcBef>
              <a:buNone/>
            </a:pPr>
            <a:r>
              <a:rPr lang="ru-RU" sz="2800" i="1" dirty="0" smtClean="0"/>
              <a:t>- разъемные</a:t>
            </a:r>
            <a:r>
              <a:rPr lang="ru-RU" sz="2800" dirty="0"/>
              <a:t> соединения </a:t>
            </a:r>
            <a:r>
              <a:rPr lang="ru-RU" sz="2800" dirty="0" smtClean="0"/>
              <a:t>(резьбовые, шпоночные); 2.</a:t>
            </a:r>
            <a:r>
              <a:rPr lang="ru-RU" sz="2800" dirty="0"/>
              <a:t> </a:t>
            </a:r>
            <a:r>
              <a:rPr lang="ru-RU" sz="2800" i="1" dirty="0"/>
              <a:t>передачи </a:t>
            </a:r>
            <a:r>
              <a:rPr lang="ru-RU" sz="2800" i="1" dirty="0" smtClean="0"/>
              <a:t>вращательного </a:t>
            </a:r>
            <a:r>
              <a:rPr lang="ru-RU" sz="2800" i="1" dirty="0"/>
              <a:t>движения</a:t>
            </a:r>
            <a:r>
              <a:rPr lang="ru-RU" sz="2800" dirty="0"/>
              <a:t> (зубчатые, </a:t>
            </a:r>
            <a:r>
              <a:rPr lang="ru-RU" sz="2800" dirty="0" smtClean="0"/>
              <a:t>ременные, цепные и др.);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 smtClean="0"/>
              <a:t>3.</a:t>
            </a:r>
            <a:r>
              <a:rPr lang="ru-RU" sz="2800" dirty="0"/>
              <a:t> </a:t>
            </a:r>
            <a:r>
              <a:rPr lang="ru-RU" sz="2800" i="1" dirty="0"/>
              <a:t>детали</a:t>
            </a:r>
            <a:r>
              <a:rPr lang="ru-RU" sz="2800" dirty="0"/>
              <a:t> и </a:t>
            </a:r>
            <a:r>
              <a:rPr lang="ru-RU" sz="2800" i="1" dirty="0"/>
              <a:t>узлы</a:t>
            </a:r>
            <a:r>
              <a:rPr lang="ru-RU" sz="2800" dirty="0"/>
              <a:t>, </a:t>
            </a:r>
            <a:r>
              <a:rPr lang="ru-RU" sz="2800" i="1" dirty="0"/>
              <a:t>обслуживающие передачи</a:t>
            </a:r>
            <a:r>
              <a:rPr lang="ru-RU" sz="2800" dirty="0"/>
              <a:t> (валы, оси, подшипники и др.).</a:t>
            </a:r>
          </a:p>
          <a:p>
            <a:pPr algn="just">
              <a:buNone/>
            </a:pP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/>
          <a:lstStyle/>
          <a:p>
            <a:pPr marL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2800" dirty="0" smtClean="0"/>
          </a:p>
          <a:p>
            <a:pPr marL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800" dirty="0" smtClean="0"/>
              <a:t>К </a:t>
            </a:r>
            <a:r>
              <a:rPr lang="ru-RU" sz="2800" dirty="0"/>
              <a:t>узлам и деталям специального назначения относятся такие узлы и детали, которые входят в состав одного или нескольких типов машин и приборов (например, поршни и шатуны ДВС, лопатки турбин газотурбинных двигателей, траки гусениц тракторов, танков и БМП)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/>
          <a:lstStyle/>
          <a:p>
            <a:pPr>
              <a:buNone/>
            </a:pPr>
            <a:endParaRPr lang="ru-RU" sz="2800" dirty="0" smtClean="0"/>
          </a:p>
          <a:p>
            <a:pPr>
              <a:buNone/>
            </a:pPr>
            <a:endParaRPr lang="ru-RU" sz="2800" dirty="0"/>
          </a:p>
          <a:p>
            <a:pPr algn="just">
              <a:buNone/>
            </a:pPr>
            <a:r>
              <a:rPr lang="ru-RU" sz="2800" dirty="0" smtClean="0"/>
              <a:t>МЕХАНИЗМ </a:t>
            </a:r>
            <a:r>
              <a:rPr lang="ru-RU" sz="2800" dirty="0"/>
              <a:t>– искусственно созданная система материальных тел, предназначенная для преобразования движения одного или нескольких тел в требуемое (необходимое) движение других тел.</a:t>
            </a:r>
          </a:p>
          <a:p>
            <a:pPr algn="just">
              <a:buNone/>
            </a:pPr>
            <a:r>
              <a:rPr lang="ru-RU" sz="2800" dirty="0"/>
              <a:t>АППАРАТ – (</a:t>
            </a:r>
            <a:r>
              <a:rPr lang="ru-RU" sz="2800" i="1" dirty="0"/>
              <a:t>лат. </a:t>
            </a:r>
            <a:r>
              <a:rPr lang="en-US" sz="2800" i="1" dirty="0"/>
              <a:t>apparatus</a:t>
            </a:r>
            <a:r>
              <a:rPr lang="ru-RU" sz="2800" i="1" dirty="0"/>
              <a:t> – часть</a:t>
            </a:r>
            <a:r>
              <a:rPr lang="ru-RU" sz="2800" dirty="0"/>
              <a:t>)  прибор, техническое устройство, приспособление, обычно некая автономно-функциональная часть более сложной системы.</a:t>
            </a:r>
          </a:p>
          <a:p>
            <a:pPr marL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 lnSpcReduction="10000"/>
          </a:bodyPr>
          <a:lstStyle/>
          <a:p>
            <a:pPr marL="288000">
              <a:spcBef>
                <a:spcPts val="0"/>
              </a:spcBef>
              <a:buNone/>
            </a:pPr>
            <a:r>
              <a:rPr lang="ru-RU" sz="2800" dirty="0"/>
              <a:t>АГРЕГАТ – (</a:t>
            </a:r>
            <a:r>
              <a:rPr lang="ru-RU" sz="2800" i="1" dirty="0"/>
              <a:t>лат.  </a:t>
            </a:r>
            <a:r>
              <a:rPr lang="en-US" sz="2800" i="1" dirty="0" err="1"/>
              <a:t>aggrego</a:t>
            </a:r>
            <a:r>
              <a:rPr lang="ru-RU" sz="2800" i="1" dirty="0"/>
              <a:t> – присоединять</a:t>
            </a:r>
            <a:r>
              <a:rPr lang="ru-RU" sz="2800" dirty="0"/>
              <a:t>) унифицированный функциональный узел, обладающий полной взаимозаменяемостью и </a:t>
            </a:r>
            <a:r>
              <a:rPr lang="ru-RU" sz="2800" dirty="0" smtClean="0"/>
              <a:t>выполняющий </a:t>
            </a:r>
            <a:r>
              <a:rPr lang="ru-RU" sz="2800" dirty="0"/>
              <a:t>определенные функции в процессе работы машины.</a:t>
            </a:r>
            <a:r>
              <a:rPr lang="ru-RU" sz="2800" i="1" dirty="0"/>
              <a:t> (например, в автомобиле: двигатель, </a:t>
            </a:r>
            <a:r>
              <a:rPr lang="ru-RU" sz="2800" i="1" dirty="0" smtClean="0"/>
              <a:t>топливоподающий </a:t>
            </a:r>
            <a:r>
              <a:rPr lang="ru-RU" sz="2800" i="1" dirty="0"/>
              <a:t>насос</a:t>
            </a:r>
            <a:r>
              <a:rPr lang="ru-RU" sz="2800" i="1" dirty="0" smtClean="0"/>
              <a:t>.)</a:t>
            </a:r>
          </a:p>
          <a:p>
            <a:pPr marL="288000">
              <a:spcBef>
                <a:spcPts val="0"/>
              </a:spcBef>
              <a:buNone/>
            </a:pPr>
            <a:endParaRPr lang="ru-RU" sz="2800" dirty="0"/>
          </a:p>
          <a:p>
            <a:pPr marL="288000">
              <a:spcBef>
                <a:spcPts val="0"/>
              </a:spcBef>
              <a:buNone/>
            </a:pPr>
            <a:r>
              <a:rPr lang="ru-RU" sz="2800" dirty="0"/>
              <a:t>МАШИНА – (</a:t>
            </a:r>
            <a:r>
              <a:rPr lang="ru-RU" sz="2800" i="1" dirty="0"/>
              <a:t>греч. "махина" – огромная, грозная</a:t>
            </a:r>
            <a:r>
              <a:rPr lang="ru-RU" sz="2800" dirty="0"/>
              <a:t>) система деталей, совершающая механическое движение для преобразования энергии, материалов или информации с целью облегчения труда. Машина характерна наличием источника энергии  и требует присутствия оператора для своего управления.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/>
              <a:t>  По функциональному назначению машины делятся на классы: </a:t>
            </a:r>
            <a:endParaRPr lang="ru-RU" sz="2800" dirty="0" smtClean="0"/>
          </a:p>
          <a:p>
            <a:pPr>
              <a:buNone/>
            </a:pPr>
            <a:endParaRPr lang="ru-RU" sz="2800" i="1" dirty="0" smtClean="0"/>
          </a:p>
          <a:p>
            <a:pPr>
              <a:buNone/>
            </a:pPr>
            <a:r>
              <a:rPr lang="ru-RU" sz="2800" i="1" dirty="0" smtClean="0"/>
              <a:t>1. Энергетические </a:t>
            </a:r>
            <a:r>
              <a:rPr lang="ru-RU" sz="2800" i="1" dirty="0"/>
              <a:t>машины</a:t>
            </a:r>
            <a:r>
              <a:rPr lang="ru-RU" sz="2800" dirty="0"/>
              <a:t>,</a:t>
            </a:r>
            <a:r>
              <a:rPr lang="ru-RU" sz="2800" i="1" dirty="0"/>
              <a:t> </a:t>
            </a:r>
            <a:r>
              <a:rPr lang="ru-RU" sz="2800" dirty="0"/>
              <a:t>подразделяемые на</a:t>
            </a:r>
            <a:r>
              <a:rPr lang="ru-RU" sz="2800" i="1" dirty="0"/>
              <a:t> </a:t>
            </a:r>
            <a:endParaRPr lang="ru-RU" sz="2800" dirty="0"/>
          </a:p>
          <a:p>
            <a:pPr>
              <a:buNone/>
            </a:pPr>
            <a:r>
              <a:rPr lang="ru-RU" sz="2800" i="1" dirty="0"/>
              <a:t>- машины-двигатели</a:t>
            </a:r>
            <a:r>
              <a:rPr lang="ru-RU" sz="2800" dirty="0"/>
              <a:t> – предназначенные для преобразования энергии любого вида в энергию механического движения (двигатели внутреннего сгорания, электродвигатели); </a:t>
            </a:r>
          </a:p>
          <a:p>
            <a:pPr>
              <a:buNone/>
            </a:pPr>
            <a:r>
              <a:rPr lang="ru-RU" sz="2800" dirty="0"/>
              <a:t>- </a:t>
            </a:r>
            <a:r>
              <a:rPr lang="ru-RU" sz="2800" i="1" dirty="0"/>
              <a:t>машины-генераторы</a:t>
            </a:r>
            <a:r>
              <a:rPr lang="ru-RU" sz="2800" dirty="0"/>
              <a:t> – для преобразования механической энергии в другой вид;</a:t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/>
              <a:t>  По функциональному назначению машины делятся на классы: </a:t>
            </a:r>
            <a:endParaRPr lang="ru-RU" sz="2800" dirty="0" smtClean="0"/>
          </a:p>
          <a:p>
            <a:pPr>
              <a:buNone/>
            </a:pPr>
            <a:endParaRPr lang="ru-RU" sz="2800" i="1" dirty="0" smtClean="0"/>
          </a:p>
          <a:p>
            <a:pPr>
              <a:spcBef>
                <a:spcPts val="0"/>
              </a:spcBef>
              <a:buNone/>
            </a:pPr>
            <a:r>
              <a:rPr lang="ru-RU" sz="2800" i="1" dirty="0" smtClean="0"/>
              <a:t>2. </a:t>
            </a:r>
            <a:r>
              <a:rPr lang="ru-RU" sz="2800" dirty="0"/>
              <a:t>Т</a:t>
            </a:r>
            <a:r>
              <a:rPr lang="ru-RU" sz="2800" i="1" dirty="0" smtClean="0"/>
              <a:t>ехнологические машины</a:t>
            </a:r>
            <a:r>
              <a:rPr lang="ru-RU" sz="2800" dirty="0" smtClean="0"/>
              <a:t>, предназначенные для изменения размеров, формы, свойства или состояния предмета (металлообрабатывающие станки, прессы, машины пищевой, горной, текстильной, полиграфической, химической промышленности и др.); 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800" dirty="0"/>
              <a:t>  По функциональному назначению машины делятся на классы: </a:t>
            </a:r>
            <a:endParaRPr lang="ru-RU" sz="2800" dirty="0" smtClean="0"/>
          </a:p>
          <a:p>
            <a:pPr>
              <a:buNone/>
            </a:pPr>
            <a:endParaRPr lang="ru-RU" sz="2800" i="1" dirty="0" smtClean="0"/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800" i="1" dirty="0" smtClean="0"/>
              <a:t>3. </a:t>
            </a:r>
            <a:r>
              <a:rPr lang="ru-RU" sz="2800" dirty="0"/>
              <a:t>Т</a:t>
            </a:r>
            <a:r>
              <a:rPr lang="ru-RU" sz="2800" i="1" dirty="0" smtClean="0"/>
              <a:t>ранспортные </a:t>
            </a:r>
            <a:r>
              <a:rPr lang="ru-RU" sz="2800" i="1" dirty="0"/>
              <a:t>машины</a:t>
            </a:r>
            <a:r>
              <a:rPr lang="ru-RU" sz="2800" dirty="0"/>
              <a:t>, предназначенные для перемещения грузов, людей и изделий. Эти машины подразделяют </a:t>
            </a:r>
            <a:r>
              <a:rPr lang="ru-RU" sz="2800" dirty="0" smtClean="0"/>
              <a:t>на:</a:t>
            </a:r>
            <a:endParaRPr lang="ru-RU" sz="2800" dirty="0"/>
          </a:p>
          <a:p>
            <a:pPr>
              <a:lnSpc>
                <a:spcPct val="110000"/>
              </a:lnSpc>
              <a:spcBef>
                <a:spcPts val="0"/>
              </a:spcBef>
              <a:buFontTx/>
              <a:buChar char="-"/>
            </a:pPr>
            <a:r>
              <a:rPr lang="ru-RU" sz="2800" i="1" dirty="0" smtClean="0"/>
              <a:t>транспортные </a:t>
            </a:r>
            <a:r>
              <a:rPr lang="ru-RU" sz="2800" i="1" dirty="0"/>
              <a:t>средства</a:t>
            </a:r>
            <a:r>
              <a:rPr lang="ru-RU" sz="2800" dirty="0"/>
              <a:t> (наземные, водные, воздушные, космические</a:t>
            </a:r>
            <a:r>
              <a:rPr lang="ru-RU" sz="2800" dirty="0" smtClean="0"/>
              <a:t>);</a:t>
            </a:r>
          </a:p>
          <a:p>
            <a:pPr>
              <a:lnSpc>
                <a:spcPct val="110000"/>
              </a:lnSpc>
              <a:spcBef>
                <a:spcPts val="0"/>
              </a:spcBef>
              <a:buFontTx/>
              <a:buChar char="-"/>
            </a:pPr>
            <a:r>
              <a:rPr lang="ru-RU" sz="2800" dirty="0"/>
              <a:t> </a:t>
            </a:r>
            <a:r>
              <a:rPr lang="ru-RU" sz="2800" i="1" dirty="0" smtClean="0"/>
              <a:t>подъёмно-транспортные машины</a:t>
            </a:r>
            <a:r>
              <a:rPr lang="ru-RU" sz="2800" dirty="0" smtClean="0"/>
              <a:t> (подъемные краны, эскалаторы, конвейеры и т. п.);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/>
              <a:t>  По функциональному назначению машины делятся на классы: </a:t>
            </a:r>
            <a:endParaRPr lang="ru-RU" sz="2800" dirty="0" smtClean="0"/>
          </a:p>
          <a:p>
            <a:pPr>
              <a:buNone/>
            </a:pPr>
            <a:endParaRPr lang="ru-RU" sz="2800" i="1" dirty="0" smtClean="0"/>
          </a:p>
          <a:p>
            <a:pPr>
              <a:spcBef>
                <a:spcPts val="0"/>
              </a:spcBef>
              <a:buNone/>
            </a:pPr>
            <a:r>
              <a:rPr lang="ru-RU" sz="2800" i="1" dirty="0" smtClean="0"/>
              <a:t>4. </a:t>
            </a:r>
            <a:r>
              <a:rPr lang="ru-RU" sz="2800" i="1" dirty="0"/>
              <a:t>И</a:t>
            </a:r>
            <a:r>
              <a:rPr lang="ru-RU" sz="2800" i="1" dirty="0" smtClean="0"/>
              <a:t>нформационные машины</a:t>
            </a:r>
            <a:r>
              <a:rPr lang="ru-RU" sz="2800" dirty="0" smtClean="0"/>
              <a:t>, предназначенные для получения и преобразования информации. Информационные машины выполняют контрольно-измерительные операции, функции регулирования и управления технологическими процессами. 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/>
          </a:bodyPr>
          <a:lstStyle/>
          <a:p>
            <a:pPr>
              <a:buNone/>
            </a:pPr>
            <a:endParaRPr lang="ru-RU" sz="2800" dirty="0" smtClean="0"/>
          </a:p>
          <a:p>
            <a:pPr>
              <a:buNone/>
            </a:pPr>
            <a:r>
              <a:rPr lang="ru-RU" sz="2800" dirty="0" smtClean="0"/>
              <a:t>АВТОМАТ </a:t>
            </a:r>
            <a:r>
              <a:rPr lang="ru-RU" sz="2800" dirty="0"/>
              <a:t>– (</a:t>
            </a:r>
            <a:r>
              <a:rPr lang="ru-RU" sz="2800" i="1" dirty="0"/>
              <a:t>греч. "</a:t>
            </a:r>
            <a:r>
              <a:rPr lang="ru-RU" sz="2800" i="1" dirty="0" err="1"/>
              <a:t>аутомотос</a:t>
            </a:r>
            <a:r>
              <a:rPr lang="ru-RU" sz="2800" i="1" dirty="0"/>
              <a:t>" – самодвижущийся</a:t>
            </a:r>
            <a:r>
              <a:rPr lang="ru-RU" sz="2800" dirty="0"/>
              <a:t>) машина, работающая по заданной программе без оператора</a:t>
            </a:r>
            <a:r>
              <a:rPr lang="ru-RU" sz="2800" dirty="0" smtClean="0"/>
              <a:t>.</a:t>
            </a:r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ru-RU" sz="2800" dirty="0"/>
              <a:t>РОБОТ – (</a:t>
            </a:r>
            <a:r>
              <a:rPr lang="ru-RU" sz="2800" i="1" dirty="0" err="1"/>
              <a:t>чешск</a:t>
            </a:r>
            <a:r>
              <a:rPr lang="ru-RU" sz="2800" i="1" dirty="0"/>
              <a:t>. </a:t>
            </a:r>
            <a:r>
              <a:rPr lang="en-US" sz="2800" i="1" dirty="0"/>
              <a:t>robot</a:t>
            </a:r>
            <a:r>
              <a:rPr lang="ru-RU" sz="2800" i="1" dirty="0"/>
              <a:t> – работник</a:t>
            </a:r>
            <a:r>
              <a:rPr lang="ru-RU" sz="2800" dirty="0"/>
              <a:t>) машина, имеющая систему управления, позволяющую ей самостоятельно принимать исполнительские  решения в заданном диапазоне.</a:t>
            </a:r>
          </a:p>
          <a:p>
            <a:pPr>
              <a:spcBef>
                <a:spcPts val="0"/>
              </a:spcBef>
              <a:buNone/>
            </a:pP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dirty="0"/>
              <a:t>По функциональному назначению узлы и детали делятся на</a:t>
            </a:r>
            <a:r>
              <a:rPr lang="ru-RU" dirty="0" smtClean="0"/>
              <a:t>:</a:t>
            </a:r>
          </a:p>
          <a:p>
            <a:pPr algn="ctr">
              <a:buNone/>
            </a:pPr>
            <a:endParaRPr lang="ru-RU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smtClean="0"/>
              <a:t>1</a:t>
            </a:r>
            <a:r>
              <a:rPr lang="ru-RU" sz="2400" dirty="0"/>
              <a:t>. Корпусные детали, предназначенные для размещения и фиксации подвижных деталей механизма, для их </a:t>
            </a:r>
            <a:r>
              <a:rPr lang="ru-RU" sz="2400" dirty="0" smtClean="0"/>
              <a:t>защиты, </a:t>
            </a:r>
            <a:r>
              <a:rPr lang="ru-RU" sz="2400" dirty="0"/>
              <a:t>а также для крепления механизмов в составе машин и агрегатов.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2. Соединительные для разъемного и неразъемного соединения (</a:t>
            </a:r>
            <a:r>
              <a:rPr lang="ru-RU" sz="2400" dirty="0" smtClean="0"/>
              <a:t>например</a:t>
            </a:r>
            <a:r>
              <a:rPr lang="ru-RU" sz="2400" dirty="0"/>
              <a:t>, муфты – устройства для соединения вращающихся валов; болты винты шпильки гайки – детали для разъемных соединений; заклепки – детали для неразъемного соединения</a:t>
            </a:r>
            <a:r>
              <a:rPr lang="ru-RU" sz="2400" dirty="0" smtClean="0"/>
              <a:t>).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/>
            </a:r>
            <a:br>
              <a:rPr lang="ru-RU" sz="2400" dirty="0"/>
            </a:b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ru-RU" sz="5800" dirty="0" smtClean="0"/>
              <a:t>По функциональному назначению узлы и детали делятся на: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buNone/>
            </a:pPr>
            <a:endParaRPr lang="ru-RU" sz="3600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4400" dirty="0" smtClean="0"/>
              <a:t>3. Передаточные механизмы и детали, предназначенные для передачи энергии и движения от источника (двигателя) к потребителю (исполнительному механизму), выполняющему необходимую полезную работу.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ru-RU" sz="4400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4400" dirty="0" smtClean="0"/>
              <a:t>4</a:t>
            </a:r>
            <a:r>
              <a:rPr lang="ru-RU" sz="4400" dirty="0"/>
              <a:t>. Упругие элементы предназначены для ослабления ударов </a:t>
            </a:r>
            <a:r>
              <a:rPr lang="ru-RU" sz="4400"/>
              <a:t>и </a:t>
            </a:r>
            <a:r>
              <a:rPr lang="ru-RU" sz="4400" smtClean="0"/>
              <a:t>вибрации </a:t>
            </a:r>
            <a:r>
              <a:rPr lang="ru-RU" sz="4400" dirty="0"/>
              <a:t>или для накопления энергии с целью последующего совершения </a:t>
            </a:r>
            <a:r>
              <a:rPr lang="ru-RU" sz="4400" dirty="0" smtClean="0"/>
              <a:t>механической </a:t>
            </a:r>
            <a:r>
              <a:rPr lang="ru-RU" sz="4400" dirty="0"/>
              <a:t>работы (рессоры колесных машин, противооткатные устройства пушек, боевая пружина стрелкового оружия).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800" dirty="0"/>
              <a:t/>
            </a:r>
            <a:br>
              <a:rPr lang="ru-RU" sz="3800" dirty="0"/>
            </a:br>
            <a:r>
              <a:rPr lang="ru-RU" sz="3800" dirty="0"/>
              <a:t> </a:t>
            </a:r>
            <a:r>
              <a:rPr lang="ru-RU" sz="2800" dirty="0"/>
              <a:t/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 fontScale="47500" lnSpcReduction="20000"/>
          </a:bodyPr>
          <a:lstStyle/>
          <a:p>
            <a:pPr algn="ctr">
              <a:buNone/>
            </a:pPr>
            <a:r>
              <a:rPr lang="ru-RU" sz="6700" dirty="0" smtClean="0"/>
              <a:t>По функциональному назначению узлы и детали делятся на: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buNone/>
            </a:pPr>
            <a:endParaRPr lang="ru-RU" sz="3600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800" dirty="0"/>
              <a:t>5</a:t>
            </a:r>
            <a:r>
              <a:rPr lang="ru-RU" sz="5100" dirty="0"/>
              <a:t>. Инерционные детали и элементы предназначены для </a:t>
            </a:r>
            <a:r>
              <a:rPr lang="ru-RU" sz="5100" dirty="0" smtClean="0"/>
              <a:t>предотвращения </a:t>
            </a:r>
            <a:r>
              <a:rPr lang="ru-RU" sz="5100" dirty="0"/>
              <a:t>или ослабления колебаний (в линейном или вращательном движе­ниях) за счет накопления и последующей отдачи кинетической энергии (</a:t>
            </a:r>
            <a:r>
              <a:rPr lang="ru-RU" sz="5100" dirty="0" smtClean="0"/>
              <a:t>маховики</a:t>
            </a:r>
            <a:r>
              <a:rPr lang="ru-RU" sz="5100" dirty="0"/>
              <a:t>, противовесы, маятники</a:t>
            </a:r>
            <a:r>
              <a:rPr lang="ru-RU" sz="5100" dirty="0" smtClean="0"/>
              <a:t>, шаботы).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ru-RU" sz="51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5100" dirty="0"/>
              <a:t>6. Защитные детали и уплотнения предназначены для защиты </a:t>
            </a:r>
            <a:r>
              <a:rPr lang="ru-RU" sz="5100" dirty="0" smtClean="0"/>
              <a:t>внутренних </a:t>
            </a:r>
            <a:r>
              <a:rPr lang="ru-RU" sz="5100" dirty="0"/>
              <a:t>полостей узлов и агрегатов от действия неблагоприятных факторов внешней среды и от вытекания смазочных материалов из этих полостей (</a:t>
            </a:r>
            <a:r>
              <a:rPr lang="ru-RU" sz="5100" dirty="0" err="1" smtClean="0"/>
              <a:t>пылевики</a:t>
            </a:r>
            <a:r>
              <a:rPr lang="ru-RU" sz="5100" dirty="0"/>
              <a:t>, сальники, крышки, рубашки и т.п.).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dirty="0"/>
              <a:t/>
            </a:r>
            <a:br>
              <a:rPr lang="ru-RU" sz="3400" dirty="0"/>
            </a:br>
            <a:r>
              <a:rPr lang="ru-RU" sz="3400" dirty="0"/>
              <a:t> </a:t>
            </a:r>
            <a:r>
              <a:rPr lang="ru-RU" sz="2800" dirty="0"/>
              <a:t/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dirty="0" smtClean="0"/>
              <a:t>По функциональному назначению узлы и детали делятся на: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buNone/>
            </a:pPr>
            <a:endParaRPr lang="ru-RU" sz="3600" dirty="0" smtClean="0"/>
          </a:p>
          <a:p>
            <a:pPr>
              <a:buNone/>
            </a:pPr>
            <a:r>
              <a:rPr lang="ru-RU" sz="2400" dirty="0"/>
              <a:t>7. Детали и узлы регулирования и управления предназначены для воздействия на агрегаты и механизмы с целью изменения их режима работы или его поддержания на оптимальном уровне (тяги, рычаги, тросы и т.п.).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dirty="0"/>
              <a:t/>
            </a:r>
            <a:br>
              <a:rPr lang="ru-RU" sz="3400" dirty="0"/>
            </a:br>
            <a:r>
              <a:rPr lang="ru-RU" sz="3400" dirty="0"/>
              <a:t> </a:t>
            </a:r>
            <a:r>
              <a:rPr lang="ru-RU" sz="2800" dirty="0"/>
              <a:t/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 fontScale="85000" lnSpcReduction="20000"/>
          </a:bodyPr>
          <a:lstStyle/>
          <a:p>
            <a:endParaRPr lang="ru-RU" sz="1800" dirty="0"/>
          </a:p>
          <a:p>
            <a:pPr algn="ctr">
              <a:buNone/>
            </a:pPr>
            <a:r>
              <a:rPr lang="ru-RU" sz="3300" b="1" dirty="0"/>
              <a:t>Требования к машинам и критерии их </a:t>
            </a:r>
            <a:r>
              <a:rPr lang="ru-RU" sz="3300" b="1" dirty="0" smtClean="0"/>
              <a:t>качества:</a:t>
            </a:r>
            <a:endParaRPr lang="ru-RU" dirty="0"/>
          </a:p>
          <a:p>
            <a:pPr algn="ctr">
              <a:buNone/>
            </a:pPr>
            <a:r>
              <a:rPr lang="ru-RU" dirty="0"/>
              <a:t> </a:t>
            </a:r>
            <a:endParaRPr lang="ru-RU" sz="1800" dirty="0"/>
          </a:p>
          <a:p>
            <a:pPr lvl="2"/>
            <a:r>
              <a:rPr lang="ru-RU" sz="2800" dirty="0" smtClean="0"/>
              <a:t>технологические </a:t>
            </a:r>
            <a:r>
              <a:rPr lang="ru-RU" sz="2800" dirty="0"/>
              <a:t>требования;</a:t>
            </a:r>
          </a:p>
          <a:p>
            <a:pPr lvl="2"/>
            <a:r>
              <a:rPr lang="ru-RU" sz="2800" dirty="0"/>
              <a:t>экономические требования;</a:t>
            </a:r>
          </a:p>
          <a:p>
            <a:pPr lvl="2"/>
            <a:r>
              <a:rPr lang="ru-RU" sz="2800" dirty="0"/>
              <a:t>эксплуатационные </a:t>
            </a:r>
            <a:r>
              <a:rPr lang="ru-RU" sz="2800" dirty="0" smtClean="0"/>
              <a:t>требования.</a:t>
            </a:r>
            <a:endParaRPr lang="ru-RU" sz="2800" dirty="0"/>
          </a:p>
          <a:p>
            <a:pPr lvl="2">
              <a:buNone/>
            </a:pPr>
            <a:endParaRPr lang="ru-RU" sz="2800" dirty="0" smtClean="0"/>
          </a:p>
          <a:p>
            <a:pPr marL="324000" lvl="2" indent="-14400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800" dirty="0" smtClean="0"/>
              <a:t>Степень </a:t>
            </a:r>
            <a:r>
              <a:rPr lang="ru-RU" sz="2800" dirty="0"/>
              <a:t>соответствия требованиям характеризуют критерии качества (</a:t>
            </a:r>
            <a:r>
              <a:rPr lang="ru-RU" sz="2800" i="1" dirty="0"/>
              <a:t>греч. "</a:t>
            </a:r>
            <a:r>
              <a:rPr lang="ru-RU" sz="2800" i="1" dirty="0" err="1"/>
              <a:t>крит</a:t>
            </a:r>
            <a:r>
              <a:rPr lang="ru-RU" sz="2800" i="1" dirty="0"/>
              <a:t> </a:t>
            </a:r>
            <a:r>
              <a:rPr lang="ru-RU" sz="2800" i="1" dirty="0" err="1"/>
              <a:t>эрион</a:t>
            </a:r>
            <a:r>
              <a:rPr lang="ru-RU" sz="2800" i="1" dirty="0"/>
              <a:t>" – узкое место</a:t>
            </a:r>
            <a:r>
              <a:rPr lang="ru-RU" sz="2800" dirty="0"/>
              <a:t>) – некие конкретные параметры (</a:t>
            </a:r>
            <a:r>
              <a:rPr lang="ru-RU" sz="2800" i="1" dirty="0"/>
              <a:t>греч. "пара </a:t>
            </a:r>
            <a:r>
              <a:rPr lang="ru-RU" sz="2800" i="1" dirty="0" err="1"/>
              <a:t>мэтрос</a:t>
            </a:r>
            <a:r>
              <a:rPr lang="ru-RU" sz="2800" i="1" dirty="0"/>
              <a:t>" – измеряемый</a:t>
            </a:r>
            <a:r>
              <a:rPr lang="ru-RU" sz="2800" dirty="0"/>
              <a:t>), т.е. измеряемые или вычисляемые величины.</a:t>
            </a:r>
          </a:p>
          <a:p>
            <a:pPr lvl="2">
              <a:buNone/>
            </a:pPr>
            <a:endParaRPr lang="ru-RU" sz="28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 </a:t>
            </a:r>
            <a:br>
              <a:rPr lang="ru-RU" sz="2800" dirty="0"/>
            </a:b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37523"/>
          </a:xfrm>
        </p:spPr>
        <p:txBody>
          <a:bodyPr>
            <a:normAutofit fontScale="40000" lnSpcReduction="20000"/>
          </a:bodyPr>
          <a:lstStyle/>
          <a:p>
            <a:endParaRPr lang="ru-RU" sz="1800" dirty="0" smtClean="0"/>
          </a:p>
          <a:p>
            <a:pPr algn="ctr">
              <a:buNone/>
            </a:pPr>
            <a:r>
              <a:rPr lang="ru-RU" sz="7000" b="1" dirty="0" smtClean="0"/>
              <a:t>Требования к машинам и критерии их качества:</a:t>
            </a:r>
          </a:p>
          <a:p>
            <a:pPr algn="ctr">
              <a:buNone/>
            </a:pPr>
            <a:endParaRPr lang="ru-RU" sz="5900" dirty="0" smtClean="0"/>
          </a:p>
          <a:p>
            <a:pPr algn="ctr">
              <a:buNone/>
            </a:pPr>
            <a:endParaRPr lang="ru-RU" sz="5900" dirty="0" smtClean="0"/>
          </a:p>
          <a:p>
            <a:pPr algn="ctr">
              <a:buNone/>
            </a:pPr>
            <a:r>
              <a:rPr lang="ru-RU" dirty="0" smtClean="0"/>
              <a:t> </a:t>
            </a:r>
            <a:endParaRPr lang="ru-RU" sz="1800" dirty="0" smtClean="0"/>
          </a:p>
          <a:p>
            <a:pPr indent="-180000">
              <a:lnSpc>
                <a:spcPct val="120000"/>
              </a:lnSpc>
              <a:spcBef>
                <a:spcPts val="0"/>
              </a:spcBef>
            </a:pPr>
            <a:r>
              <a:rPr lang="ru-RU" sz="6000" dirty="0"/>
              <a:t>ТЕХНОЛОГИЧНОСТЬ – изготовление изделия при минимальных затратах труда, времени и средств при полном соответствии своему назначению</a:t>
            </a:r>
            <a:r>
              <a:rPr lang="ru-RU" sz="6000" dirty="0" smtClean="0"/>
              <a:t>.</a:t>
            </a:r>
          </a:p>
          <a:p>
            <a:pPr indent="-180000">
              <a:lnSpc>
                <a:spcPct val="120000"/>
              </a:lnSpc>
              <a:spcBef>
                <a:spcPts val="0"/>
              </a:spcBef>
            </a:pPr>
            <a:r>
              <a:rPr lang="ru-RU" sz="6000" dirty="0" smtClean="0"/>
              <a:t>ЭКОНОМИЧНОСТЬ </a:t>
            </a:r>
            <a:r>
              <a:rPr lang="ru-RU" sz="6000" dirty="0"/>
              <a:t>– минимальная стоимость производства и эксплуатации</a:t>
            </a:r>
            <a:r>
              <a:rPr lang="ru-RU" sz="6000" dirty="0" smtClean="0"/>
              <a:t>.</a:t>
            </a:r>
            <a:endParaRPr lang="ru-RU" sz="6000" dirty="0"/>
          </a:p>
          <a:p>
            <a:pPr indent="-180000">
              <a:lnSpc>
                <a:spcPct val="120000"/>
              </a:lnSpc>
              <a:spcBef>
                <a:spcPts val="0"/>
              </a:spcBef>
            </a:pPr>
            <a:r>
              <a:rPr lang="ru-RU" sz="6000" dirty="0"/>
              <a:t>РАБОТОСПОСОБНОСТЬ – состояние объекта, при котором он способен выполнять заданные функции</a:t>
            </a:r>
            <a:r>
              <a:rPr lang="ru-RU" sz="6000" dirty="0" smtClean="0"/>
              <a:t>.</a:t>
            </a:r>
            <a:endParaRPr lang="ru-RU" sz="6000" dirty="0"/>
          </a:p>
          <a:p>
            <a:pPr indent="-180000">
              <a:lnSpc>
                <a:spcPct val="120000"/>
              </a:lnSpc>
              <a:spcBef>
                <a:spcPts val="0"/>
              </a:spcBef>
            </a:pPr>
            <a:r>
              <a:rPr lang="ru-RU" sz="6000" dirty="0"/>
              <a:t>НАДЁЖНОСТЬ – свойство объекта сохранять во времени способность к выполнению заданных </a:t>
            </a:r>
            <a:r>
              <a:rPr lang="ru-RU" sz="6000" dirty="0" smtClean="0"/>
              <a:t>функций. </a:t>
            </a:r>
            <a:endParaRPr lang="ru-RU" sz="6000" dirty="0"/>
          </a:p>
          <a:p>
            <a:pPr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5100" dirty="0"/>
              <a:t/>
            </a:r>
            <a:br>
              <a:rPr lang="ru-RU" sz="5100" dirty="0"/>
            </a:br>
            <a:endParaRPr lang="ru-RU" sz="5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rmAutofit fontScale="25000" lnSpcReduction="20000"/>
          </a:bodyPr>
          <a:lstStyle/>
          <a:p>
            <a:endParaRPr lang="ru-RU" sz="1800" dirty="0" smtClean="0"/>
          </a:p>
          <a:p>
            <a:pPr algn="ctr">
              <a:buNone/>
            </a:pPr>
            <a:r>
              <a:rPr lang="ru-RU" sz="11200" dirty="0"/>
              <a:t>Основными критериями качества машин  считают</a:t>
            </a:r>
            <a:r>
              <a:rPr lang="ru-RU" sz="11200" dirty="0" smtClean="0"/>
              <a:t>:</a:t>
            </a:r>
            <a:endParaRPr lang="ru-RU" sz="7000" dirty="0" smtClean="0"/>
          </a:p>
          <a:p>
            <a:pPr algn="ctr">
              <a:buNone/>
            </a:pPr>
            <a:endParaRPr lang="ru-RU" sz="6600" dirty="0"/>
          </a:p>
          <a:p>
            <a:r>
              <a:rPr lang="ru-RU" sz="9600" dirty="0"/>
              <a:t>МОЩНОСТЬ – скорость преобразования энергии</a:t>
            </a:r>
            <a:r>
              <a:rPr lang="ru-RU" sz="9600" dirty="0" smtClean="0"/>
              <a:t>;</a:t>
            </a:r>
          </a:p>
          <a:p>
            <a:r>
              <a:rPr lang="ru-RU" sz="9600" dirty="0" smtClean="0"/>
              <a:t>ПРОИЗВОДИТЕЛЬНОСТЬ </a:t>
            </a:r>
            <a:r>
              <a:rPr lang="ru-RU" sz="9600" dirty="0"/>
              <a:t>– объём работы (продукции, информации), выполняемой в единицу времени;</a:t>
            </a:r>
          </a:p>
          <a:p>
            <a:r>
              <a:rPr lang="ru-RU" sz="9600" dirty="0"/>
              <a:t>КОЭФФИЦИЕНТ ПОЛЕЗНОГО ДЕЙСТВИЯ – доля дошедшей до потребителя энергии (мощности);</a:t>
            </a:r>
          </a:p>
          <a:p>
            <a:r>
              <a:rPr lang="ru-RU" sz="9600" dirty="0"/>
              <a:t>ГАБАРИТЫ  – предельные размеры</a:t>
            </a:r>
            <a:r>
              <a:rPr lang="ru-RU" sz="9600" dirty="0" smtClean="0"/>
              <a:t>;</a:t>
            </a:r>
          </a:p>
          <a:p>
            <a:r>
              <a:rPr lang="ru-RU" sz="9600" dirty="0"/>
              <a:t>ЭНЕРГОЁМКОСТЬ - расход топлива или электричества отнесённый к объёму работы (пройденному расстоянию, произведённой продукции);</a:t>
            </a:r>
          </a:p>
          <a:p>
            <a:r>
              <a:rPr lang="ru-RU" sz="9600" dirty="0"/>
              <a:t>МАТЕРИАЛОЁМКОСТЬ  –  количество конструкционного материала машины, обычно отнесённого  к единице мощности;</a:t>
            </a:r>
          </a:p>
          <a:p>
            <a:r>
              <a:rPr lang="ru-RU" sz="9600" dirty="0"/>
              <a:t>ТОЧНОСТЬ – способность максимально соответствовать заданному положению (скорости и т.п.);</a:t>
            </a:r>
          </a:p>
          <a:p>
            <a:r>
              <a:rPr lang="ru-RU" sz="9600" dirty="0"/>
              <a:t>ПЛАВНОСТЬ ХОДА  –  минимальные   ускорения при работе машины.</a:t>
            </a:r>
          </a:p>
          <a:p>
            <a:endParaRPr lang="ru-RU" sz="7400" dirty="0"/>
          </a:p>
          <a:p>
            <a:pPr algn="ctr">
              <a:buNone/>
            </a:pPr>
            <a:endParaRPr lang="ru-RU" sz="5900" dirty="0" smtClean="0"/>
          </a:p>
          <a:p>
            <a:pPr algn="ctr">
              <a:buNone/>
            </a:pPr>
            <a:endParaRPr lang="ru-RU" sz="5900" dirty="0" smtClean="0"/>
          </a:p>
          <a:p>
            <a:pPr algn="ctr">
              <a:buNone/>
            </a:pPr>
            <a:r>
              <a:rPr lang="ru-RU" dirty="0" smtClean="0"/>
              <a:t> </a:t>
            </a:r>
            <a:endParaRPr lang="ru-RU" sz="1800" dirty="0" smtClean="0"/>
          </a:p>
          <a:p>
            <a:pPr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5100" dirty="0"/>
              <a:t/>
            </a:r>
            <a:br>
              <a:rPr lang="ru-RU" sz="5100" dirty="0"/>
            </a:br>
            <a:endParaRPr lang="ru-RU" sz="5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dirty="0"/>
              <a:t>Виды нагрузок, действующих на детали </a:t>
            </a:r>
            <a:r>
              <a:rPr lang="ru-RU" sz="2800" dirty="0" smtClean="0"/>
              <a:t>машин:</a:t>
            </a:r>
            <a:r>
              <a:rPr lang="ru-RU" sz="2800" dirty="0"/>
              <a:t> </a:t>
            </a:r>
            <a:endParaRPr lang="ru-RU" sz="2800" b="1" dirty="0"/>
          </a:p>
          <a:p>
            <a:pPr lvl="0"/>
            <a:r>
              <a:rPr lang="ru-RU" sz="2400" dirty="0" smtClean="0"/>
              <a:t>рабочие </a:t>
            </a:r>
            <a:r>
              <a:rPr lang="ru-RU" sz="2400" dirty="0"/>
              <a:t>усилия;</a:t>
            </a:r>
          </a:p>
          <a:p>
            <a:pPr lvl="0"/>
            <a:r>
              <a:rPr lang="ru-RU" sz="2400" dirty="0"/>
              <a:t>силы инерции;</a:t>
            </a:r>
          </a:p>
          <a:p>
            <a:pPr lvl="0"/>
            <a:r>
              <a:rPr lang="ru-RU" sz="2400" dirty="0"/>
              <a:t>силы трения;</a:t>
            </a:r>
          </a:p>
          <a:p>
            <a:pPr lvl="0"/>
            <a:r>
              <a:rPr lang="ru-RU" sz="2400" dirty="0"/>
              <a:t>ударные нагрузки;</a:t>
            </a:r>
          </a:p>
          <a:p>
            <a:pPr lvl="0"/>
            <a:r>
              <a:rPr lang="ru-RU" sz="2400" dirty="0"/>
              <a:t>усилия, возникающие при изготовлении детали;</a:t>
            </a:r>
          </a:p>
          <a:p>
            <a:pPr lvl="0"/>
            <a:r>
              <a:rPr lang="ru-RU" sz="2400" dirty="0"/>
              <a:t>усилия, возникающие при сборке;</a:t>
            </a:r>
          </a:p>
          <a:p>
            <a:pPr lvl="0"/>
            <a:r>
              <a:rPr lang="ru-RU" sz="2400" dirty="0"/>
              <a:t>силы от температурных </a:t>
            </a:r>
            <a:r>
              <a:rPr lang="ru-RU" sz="2400" dirty="0" smtClean="0"/>
              <a:t>деформаций;</a:t>
            </a:r>
            <a:endParaRPr lang="ru-RU" sz="2400" dirty="0"/>
          </a:p>
          <a:p>
            <a:pPr lvl="0"/>
            <a:r>
              <a:rPr lang="ru-RU" sz="2400" dirty="0"/>
              <a:t>силы собственного веса детали;</a:t>
            </a:r>
          </a:p>
          <a:p>
            <a:pPr lvl="0"/>
            <a:r>
              <a:rPr lang="ru-RU" sz="2400" dirty="0"/>
              <a:t>атмосферные нагрузки.</a:t>
            </a:r>
          </a:p>
          <a:p>
            <a:pPr>
              <a:buNone/>
            </a:pPr>
            <a:r>
              <a:rPr lang="ru-RU" sz="2400" dirty="0" smtClean="0"/>
              <a:t>Номинальная </a:t>
            </a:r>
            <a:r>
              <a:rPr lang="ru-RU" sz="2400" dirty="0"/>
              <a:t>нагрузка - это наибольшая из длительно действующих нагрузок на сечение детали.</a:t>
            </a:r>
          </a:p>
          <a:p>
            <a:pPr>
              <a:buNone/>
            </a:pPr>
            <a:r>
              <a:rPr lang="ru-RU" sz="2400" dirty="0"/>
              <a:t>Расчетная нагрузка получается умножением номинальной на коэффициент нагрузки</a:t>
            </a:r>
            <a:r>
              <a:rPr lang="ru-RU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dirty="0" smtClean="0"/>
              <a:t>Условия </a:t>
            </a:r>
            <a:r>
              <a:rPr lang="ru-RU" sz="2800" dirty="0"/>
              <a:t>нормальной работы деталей и </a:t>
            </a:r>
            <a:r>
              <a:rPr lang="ru-RU" sz="2800" dirty="0" smtClean="0"/>
              <a:t>машин</a:t>
            </a:r>
            <a:r>
              <a:rPr lang="ru-RU" sz="2800" dirty="0"/>
              <a:t>	</a:t>
            </a:r>
            <a:endParaRPr lang="ru-RU" sz="2800" dirty="0" smtClean="0"/>
          </a:p>
          <a:p>
            <a:pPr algn="ctr">
              <a:buNone/>
            </a:pPr>
            <a:endParaRPr lang="ru-RU" sz="1800" dirty="0"/>
          </a:p>
          <a:p>
            <a:pPr algn="ctr">
              <a:buNone/>
            </a:pPr>
            <a:r>
              <a:rPr lang="ru-RU" sz="2400" b="1" dirty="0" smtClean="0"/>
              <a:t>РАБОТОСПОСОБНОСТЬ</a:t>
            </a:r>
            <a:r>
              <a:rPr lang="ru-RU" sz="2400" dirty="0" smtClean="0"/>
              <a:t> характеризуется:</a:t>
            </a:r>
            <a:endParaRPr lang="ru-RU" sz="2400" dirty="0"/>
          </a:p>
          <a:p>
            <a:r>
              <a:rPr lang="ru-RU" sz="2400" dirty="0" smtClean="0"/>
              <a:t>ПРОЧНОСТЬЮ </a:t>
            </a:r>
            <a:r>
              <a:rPr lang="ru-RU" sz="2400" dirty="0"/>
              <a:t>– способность детали сопротивляться разрушению или необратимому изменению формы (деформации);</a:t>
            </a:r>
          </a:p>
          <a:p>
            <a:r>
              <a:rPr lang="ru-RU" sz="2400" dirty="0" smtClean="0"/>
              <a:t>ЖЁСТКОСТЬЮ </a:t>
            </a:r>
            <a:r>
              <a:rPr lang="ru-RU" sz="2400" dirty="0"/>
              <a:t>– способность детали сопротивляться любой деформации;</a:t>
            </a:r>
          </a:p>
          <a:p>
            <a:r>
              <a:rPr lang="ru-RU" sz="2400" dirty="0" smtClean="0"/>
              <a:t>ИЗНОСОСТОЙКОСТЬЮ </a:t>
            </a:r>
            <a:r>
              <a:rPr lang="ru-RU" sz="2400" dirty="0"/>
              <a:t>– способность сохранять первоначальную форму своей поверхности, сопротивляясь износу</a:t>
            </a:r>
            <a:r>
              <a:rPr lang="ru-RU" sz="2400" dirty="0" smtClean="0"/>
              <a:t>;</a:t>
            </a:r>
          </a:p>
          <a:p>
            <a:r>
              <a:rPr lang="ru-RU" sz="2400" dirty="0"/>
              <a:t>ТЕПЛОСТОЙКОСТЬ – способность сохранять свои свойства при действии высоких температур</a:t>
            </a:r>
            <a:r>
              <a:rPr lang="ru-RU" sz="2400" dirty="0" smtClean="0"/>
              <a:t>;</a:t>
            </a:r>
          </a:p>
          <a:p>
            <a:r>
              <a:rPr lang="ru-RU" sz="2400" dirty="0"/>
              <a:t>ВИБРОУСТОЙЧИВОСТЬ – способность работать в нужном диапазоне режимов без недопустимых колебаний.</a:t>
            </a:r>
          </a:p>
          <a:p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dirty="0" smtClean="0"/>
              <a:t>Условия </a:t>
            </a:r>
            <a:r>
              <a:rPr lang="ru-RU" sz="2800" dirty="0"/>
              <a:t>нормальной работы деталей и </a:t>
            </a:r>
            <a:r>
              <a:rPr lang="ru-RU" sz="2800" dirty="0" smtClean="0"/>
              <a:t>машин</a:t>
            </a:r>
            <a:r>
              <a:rPr lang="ru-RU" sz="2800" dirty="0"/>
              <a:t>	</a:t>
            </a:r>
            <a:endParaRPr lang="ru-RU" sz="2800" dirty="0" smtClean="0"/>
          </a:p>
          <a:p>
            <a:pPr algn="ctr">
              <a:buNone/>
            </a:pPr>
            <a:endParaRPr lang="ru-RU" sz="1800" dirty="0"/>
          </a:p>
          <a:p>
            <a:pPr algn="ctr">
              <a:buNone/>
            </a:pPr>
            <a:r>
              <a:rPr lang="ru-RU" sz="2400" dirty="0"/>
              <a:t>Свойство </a:t>
            </a:r>
            <a:r>
              <a:rPr lang="ru-RU" sz="2400" dirty="0" smtClean="0"/>
              <a:t>НАДЁЖНОСТИ </a:t>
            </a:r>
            <a:r>
              <a:rPr lang="ru-RU" sz="2400" dirty="0"/>
              <a:t>количественно оценивается следующими </a:t>
            </a:r>
            <a:r>
              <a:rPr lang="ru-RU" sz="2400" dirty="0" smtClean="0"/>
              <a:t>показателями:</a:t>
            </a:r>
          </a:p>
          <a:p>
            <a:pPr algn="ctr">
              <a:buNone/>
            </a:pPr>
            <a:r>
              <a:rPr lang="ru-RU" sz="2400" dirty="0" smtClean="0"/>
              <a:t> </a:t>
            </a:r>
          </a:p>
          <a:p>
            <a:r>
              <a:rPr lang="ru-RU" sz="2400" i="1" dirty="0" smtClean="0"/>
              <a:t>наработкой </a:t>
            </a:r>
            <a:r>
              <a:rPr lang="ru-RU" sz="2400" i="1" dirty="0"/>
              <a:t>на отказ</a:t>
            </a:r>
            <a:r>
              <a:rPr lang="ru-RU" sz="2400" dirty="0"/>
              <a:t> (среднее время работы изделия между двумя, соседними по времени отказами), </a:t>
            </a:r>
            <a:endParaRPr lang="ru-RU" sz="2400" dirty="0" smtClean="0"/>
          </a:p>
          <a:p>
            <a:r>
              <a:rPr lang="ru-RU" sz="2400" i="1" dirty="0" smtClean="0"/>
              <a:t>коэффициентом </a:t>
            </a:r>
            <a:r>
              <a:rPr lang="ru-RU" sz="2400" i="1" dirty="0"/>
              <a:t>готовности</a:t>
            </a:r>
            <a:r>
              <a:rPr lang="ru-RU" sz="2400" dirty="0"/>
              <a:t> или </a:t>
            </a:r>
            <a:r>
              <a:rPr lang="ru-RU" sz="2400" i="1" dirty="0"/>
              <a:t>коэффициентом</a:t>
            </a:r>
            <a:r>
              <a:rPr lang="ru-RU" sz="2400" dirty="0"/>
              <a:t> </a:t>
            </a:r>
            <a:r>
              <a:rPr lang="ru-RU" sz="2400" i="1" dirty="0"/>
              <a:t>технического использования</a:t>
            </a:r>
            <a:r>
              <a:rPr lang="ru-RU" sz="2400" dirty="0"/>
              <a:t> (отношение времени работы изделия к сумме времен работы, обслуживания и ремонта в течение </a:t>
            </a:r>
            <a:r>
              <a:rPr lang="ru-RU" sz="2400" dirty="0" smtClean="0"/>
              <a:t>заданного </a:t>
            </a:r>
            <a:r>
              <a:rPr lang="ru-RU" sz="2400" dirty="0"/>
              <a:t>срока эксплуатации), </a:t>
            </a:r>
            <a:endParaRPr lang="ru-RU" sz="2400" dirty="0" smtClean="0"/>
          </a:p>
          <a:p>
            <a:r>
              <a:rPr lang="ru-RU" sz="2400" i="1" dirty="0" smtClean="0"/>
              <a:t>вероятностью </a:t>
            </a:r>
            <a:r>
              <a:rPr lang="ru-RU" sz="2400" i="1" dirty="0"/>
              <a:t>безотказной </a:t>
            </a:r>
            <a:r>
              <a:rPr lang="ru-RU" sz="2400" i="1" dirty="0" smtClean="0"/>
              <a:t>работы.</a:t>
            </a:r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dirty="0"/>
              <a:t>Надёжной можно считать машину, имеющую следующие </a:t>
            </a:r>
            <a:r>
              <a:rPr lang="ru-RU" sz="2800" dirty="0" smtClean="0"/>
              <a:t>свойства:</a:t>
            </a:r>
            <a:endParaRPr lang="ru-RU" sz="2800" dirty="0"/>
          </a:p>
          <a:p>
            <a:r>
              <a:rPr lang="ru-RU" sz="2400" dirty="0"/>
              <a:t>БЕЗОТКАЗНОСТЬ</a:t>
            </a:r>
            <a:r>
              <a:rPr lang="ru-RU" sz="2400" b="1" dirty="0"/>
              <a:t> </a:t>
            </a:r>
            <a:r>
              <a:rPr lang="ru-RU" sz="2400" dirty="0"/>
              <a:t>– способность сохранять свои эксплуатационные показатели в течение заданной наработки без вынужденных перерывов.</a:t>
            </a:r>
          </a:p>
          <a:p>
            <a:r>
              <a:rPr lang="ru-RU" sz="2400" dirty="0"/>
              <a:t>ДОЛГОВЕЧНОСТЬ</a:t>
            </a:r>
            <a:r>
              <a:rPr lang="ru-RU" sz="2400" b="1" dirty="0"/>
              <a:t> </a:t>
            </a:r>
            <a:r>
              <a:rPr lang="ru-RU" sz="2400" dirty="0"/>
              <a:t>– способность сохранять заданные показатели до предельного состояния с необходимыми перерывами для ремонтов и технического обслуживания.</a:t>
            </a:r>
          </a:p>
          <a:p>
            <a:r>
              <a:rPr lang="ru-RU" sz="2400" dirty="0"/>
              <a:t>РЕМОНТОПРИГОДНОСТЬ</a:t>
            </a:r>
            <a:r>
              <a:rPr lang="ru-RU" sz="2400" b="1" dirty="0"/>
              <a:t> </a:t>
            </a:r>
            <a:r>
              <a:rPr lang="ru-RU" sz="2400" dirty="0"/>
              <a:t>– приспособленность изделия к предупреждению, обнаружению и устранению отказов и неисправностей посредством техобслуживания и ремонта.</a:t>
            </a:r>
          </a:p>
          <a:p>
            <a:r>
              <a:rPr lang="ru-RU" sz="2400" dirty="0"/>
              <a:t>СОХРАНЯЕМОСТЬ</a:t>
            </a:r>
            <a:r>
              <a:rPr lang="ru-RU" sz="2400" b="1" dirty="0"/>
              <a:t> </a:t>
            </a:r>
            <a:r>
              <a:rPr lang="ru-RU" sz="2400" dirty="0"/>
              <a:t>– способность сохранять требуемые эксплуатационные показатели после установленного срока хранения и транспортирования.</a:t>
            </a:r>
          </a:p>
          <a:p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b="1" dirty="0"/>
              <a:t>ПРОЧНОСТЬ ЯВЛЯЕТСЯ ВАЖНЕЙШИМ КРИТЕРИЕМ РАБОТОСПОСОБНОСТИ И </a:t>
            </a:r>
            <a:r>
              <a:rPr lang="ru-RU" sz="2800" b="1" dirty="0" smtClean="0"/>
              <a:t>НАДЁЖНОСТИ</a:t>
            </a:r>
          </a:p>
          <a:p>
            <a:pPr algn="ctr">
              <a:buNone/>
            </a:pPr>
            <a:endParaRPr lang="ru-RU" sz="2800" b="1" dirty="0" smtClean="0"/>
          </a:p>
          <a:p>
            <a:pPr algn="ctr">
              <a:buNone/>
            </a:pPr>
            <a:r>
              <a:rPr lang="ru-RU" sz="2400" dirty="0" smtClean="0"/>
              <a:t>Общие </a:t>
            </a:r>
            <a:r>
              <a:rPr lang="ru-RU" sz="2400" dirty="0"/>
              <a:t>принципы прочностных расчётов</a:t>
            </a:r>
          </a:p>
          <a:p>
            <a:pPr algn="ctr">
              <a:buNone/>
            </a:pPr>
            <a:r>
              <a:rPr lang="ru-RU" sz="2400" dirty="0" smtClean="0"/>
              <a:t>Различают </a:t>
            </a:r>
            <a:r>
              <a:rPr lang="ru-RU" sz="2400" dirty="0"/>
              <a:t>проектировочные и проверочные расчёты.</a:t>
            </a:r>
          </a:p>
          <a:p>
            <a:r>
              <a:rPr lang="ru-RU" sz="2400" b="1" dirty="0"/>
              <a:t>Проектировочный расчёт </a:t>
            </a:r>
            <a:r>
              <a:rPr lang="ru-RU" sz="2400" dirty="0"/>
              <a:t>выполняется, когда по ожидаемым нагрузкам, с учётом свойств материала определяются геометрические параметры деталей.</a:t>
            </a:r>
          </a:p>
          <a:p>
            <a:r>
              <a:rPr lang="ru-RU" sz="2400" b="1" dirty="0"/>
              <a:t>Проверочный расчёт</a:t>
            </a:r>
            <a:r>
              <a:rPr lang="ru-RU" sz="2400" dirty="0"/>
              <a:t> выполняют, когда известна вся "геометрия" детали и максимальные нагрузки, а с учётом свойств материала определяются максимальные напряжения, которые должны быть меньше допускаемых.</a:t>
            </a:r>
          </a:p>
          <a:p>
            <a:pPr algn="ctr">
              <a:buNone/>
            </a:pPr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b="1" dirty="0"/>
              <a:t>Классификация деталей машин</a:t>
            </a:r>
          </a:p>
          <a:p>
            <a:pPr>
              <a:buNone/>
            </a:pPr>
            <a:r>
              <a:rPr lang="ru-RU" sz="2400" dirty="0"/>
              <a:t>- ПЕРЕДАЧИ предназначены для передачи и преобразования движения, энергии в </a:t>
            </a:r>
            <a:r>
              <a:rPr lang="ru-RU" sz="2400" dirty="0" smtClean="0"/>
              <a:t>машинах; </a:t>
            </a:r>
            <a:endParaRPr lang="ru-RU" sz="2400" dirty="0"/>
          </a:p>
          <a:p>
            <a:pPr>
              <a:buNone/>
            </a:pPr>
            <a:r>
              <a:rPr lang="ru-RU" sz="2400" dirty="0"/>
              <a:t>- ВАЛЫ и ОСИ. Валы служат для передачи вращающего момента вдоль своей оси и для поддержания вращающихся деталей передач (зубчатые колёса, шкивы звёздочки), устанавливаемых на валах. Оси служат для поддержания вращающихся, деталей без передачи полезных вращающих </a:t>
            </a:r>
            <a:r>
              <a:rPr lang="ru-RU" sz="2400" dirty="0" smtClean="0"/>
              <a:t>моментов;</a:t>
            </a:r>
            <a:endParaRPr lang="ru-RU" sz="2400" dirty="0"/>
          </a:p>
          <a:p>
            <a:pPr>
              <a:buNone/>
            </a:pPr>
            <a:r>
              <a:rPr lang="ru-RU" sz="2400" dirty="0"/>
              <a:t>- ОПОРЫ служат для установки валов и </a:t>
            </a:r>
            <a:r>
              <a:rPr lang="ru-RU" sz="2400" dirty="0" smtClean="0"/>
              <a:t>осей;</a:t>
            </a:r>
          </a:p>
          <a:p>
            <a:pPr>
              <a:buNone/>
            </a:pPr>
            <a:r>
              <a:rPr lang="ru-RU" sz="2400" dirty="0"/>
              <a:t>- ПОДШИПНИКИ. Предназначены для закрепления валов и осей в пространстве. Оставляют валам и осям только одну степень свободы - вращение вокруг собственной оси. Подшипники делятся на две группы в зависимости от вида трения в них: а) качения;  б) скольжения. </a:t>
            </a:r>
          </a:p>
          <a:p>
            <a:pPr>
              <a:buNone/>
            </a:pPr>
            <a:endParaRPr lang="ru-RU" sz="2400" dirty="0"/>
          </a:p>
          <a:p>
            <a:pPr algn="ctr">
              <a:buNone/>
            </a:pPr>
            <a:endParaRPr lang="ru-RU" sz="2800" b="1" dirty="0" smtClean="0"/>
          </a:p>
          <a:p>
            <a:pPr algn="ctr">
              <a:buNone/>
            </a:pPr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b="1" dirty="0"/>
              <a:t>Классификация деталей машин</a:t>
            </a:r>
          </a:p>
          <a:p>
            <a:pPr>
              <a:buNone/>
            </a:pPr>
            <a:r>
              <a:rPr lang="ru-RU" sz="2400" dirty="0"/>
              <a:t>- МУФТЫ предназначены для передачи крутящего момента с одного вала на другой. Муфты бывают постоянными, не допускающие разъединения валов при работе машин и сцепные, допускающие сцепление и расцепление валов.</a:t>
            </a:r>
          </a:p>
          <a:p>
            <a:pPr>
              <a:buNone/>
            </a:pPr>
            <a:r>
              <a:rPr lang="ru-RU" sz="2400" dirty="0"/>
              <a:t>- СОЕДИНИТЕЛЬНЫЕ ДЕТАЛИ (СОЕДИНЕНИЯ)  соединяют детали между собой.</a:t>
            </a:r>
          </a:p>
          <a:p>
            <a:pPr>
              <a:buNone/>
            </a:pPr>
            <a:r>
              <a:rPr lang="ru-RU" sz="2400" dirty="0"/>
              <a:t>Они бывают двух видов: </a:t>
            </a:r>
          </a:p>
          <a:p>
            <a:pPr>
              <a:buNone/>
            </a:pPr>
            <a:r>
              <a:rPr lang="ru-RU" sz="2400" dirty="0"/>
              <a:t>а) разъемные - их можно разобрать без разрушения. К ним относятся резьбовые, штифтовые, шпоночные, шлицевые, </a:t>
            </a:r>
            <a:r>
              <a:rPr lang="ru-RU" sz="2400" dirty="0" err="1"/>
              <a:t>клеммовые</a:t>
            </a:r>
            <a:r>
              <a:rPr lang="ru-RU" sz="2400" dirty="0"/>
              <a:t>;</a:t>
            </a:r>
          </a:p>
          <a:p>
            <a:pPr>
              <a:buNone/>
            </a:pPr>
            <a:r>
              <a:rPr lang="ru-RU" sz="2400" dirty="0"/>
              <a:t>б) неразъемные - разъединение деталей невозможно без их разрушения или связано с опасностью их повреждения. К ним относятся сварочное, клеевое, заклепочное, прессовое </a:t>
            </a:r>
            <a:r>
              <a:rPr lang="ru-RU" sz="2400" dirty="0" smtClean="0"/>
              <a:t>соединения;</a:t>
            </a:r>
            <a:endParaRPr lang="ru-RU" sz="2400" dirty="0"/>
          </a:p>
          <a:p>
            <a:pPr>
              <a:buNone/>
            </a:pPr>
            <a:endParaRPr lang="ru-RU" sz="2400" dirty="0"/>
          </a:p>
          <a:p>
            <a:pPr algn="ctr">
              <a:buNone/>
            </a:pPr>
            <a:endParaRPr lang="ru-RU" sz="2800" b="1" dirty="0" smtClean="0"/>
          </a:p>
          <a:p>
            <a:pPr algn="ctr">
              <a:buNone/>
            </a:pPr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32656"/>
            <a:ext cx="8424936" cy="626469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b="1" dirty="0"/>
              <a:t>Классификация </a:t>
            </a:r>
            <a:r>
              <a:rPr lang="ru-RU" sz="2800" b="1"/>
              <a:t>деталей </a:t>
            </a:r>
            <a:r>
              <a:rPr lang="ru-RU" sz="2800" b="1" smtClean="0"/>
              <a:t>машин</a:t>
            </a:r>
          </a:p>
          <a:p>
            <a:pPr algn="ctr">
              <a:buNone/>
            </a:pPr>
            <a:endParaRPr lang="ru-RU" sz="2800" b="1" dirty="0"/>
          </a:p>
          <a:p>
            <a:pPr>
              <a:buNone/>
            </a:pPr>
            <a:r>
              <a:rPr lang="ru-RU" sz="2400" dirty="0"/>
              <a:t>- УПРУГИЕ ЭЛЕМЕНТЫ. Их применяют: </a:t>
            </a:r>
            <a:r>
              <a:rPr lang="ru-RU" sz="2400" i="1" dirty="0"/>
              <a:t>а)</a:t>
            </a:r>
            <a:r>
              <a:rPr lang="ru-RU" sz="2400" dirty="0"/>
              <a:t> для защиты от вибраций и ударов; </a:t>
            </a:r>
            <a:r>
              <a:rPr lang="ru-RU" sz="2400" i="1" dirty="0"/>
              <a:t>б)</a:t>
            </a:r>
            <a:r>
              <a:rPr lang="ru-RU" sz="2400" dirty="0"/>
              <a:t> для совершения в течение длительного времени полезной работы путем предварительного аккумулирования или накопления энергии (пружины в часах); </a:t>
            </a:r>
            <a:r>
              <a:rPr lang="ru-RU" sz="2400" i="1" dirty="0"/>
              <a:t> в)</a:t>
            </a:r>
            <a:r>
              <a:rPr lang="ru-RU" sz="2400" dirty="0"/>
              <a:t> для создания натяга, осуществления обратного хода в кулачковых и других механизмах и т.д.</a:t>
            </a:r>
          </a:p>
          <a:p>
            <a:pPr>
              <a:buNone/>
            </a:pPr>
            <a:r>
              <a:rPr lang="ru-RU" sz="2400" dirty="0"/>
              <a:t>- КОРПУСНЫЕ ДЕТАЛИ организуют внутри себя пространство для размещения всех остальных деталей, обеспечивают их защиту. </a:t>
            </a:r>
          </a:p>
          <a:p>
            <a:pPr>
              <a:buNone/>
            </a:pPr>
            <a:r>
              <a:rPr lang="ru-RU" sz="2400" dirty="0"/>
              <a:t>- ДЕТАЛИ СПЕЦИФИЧЕСКИЕ. К ним можно отнести механизмы управления, устройства для защиты от загрязнений, для смазывания и т.д.</a:t>
            </a:r>
          </a:p>
          <a:p>
            <a:pPr>
              <a:buNone/>
            </a:pPr>
            <a:endParaRPr lang="ru-RU" sz="2400" dirty="0"/>
          </a:p>
          <a:p>
            <a:pPr algn="ctr">
              <a:buNone/>
            </a:pPr>
            <a:endParaRPr lang="ru-RU" sz="2800" b="1" dirty="0" smtClean="0"/>
          </a:p>
          <a:p>
            <a:pPr algn="ctr">
              <a:buNone/>
            </a:pPr>
            <a:endParaRPr lang="ru-RU" sz="2400" dirty="0"/>
          </a:p>
          <a:p>
            <a:endParaRPr lang="ru-RU" sz="2400" dirty="0"/>
          </a:p>
          <a:p>
            <a:pPr algn="ctr"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Классификация деталей машин</a:t>
            </a:r>
            <a:endParaRPr lang="ru-RU" dirty="0"/>
          </a:p>
        </p:txBody>
      </p:sp>
      <p:pic>
        <p:nvPicPr>
          <p:cNvPr id="4" name="Содержимое 3" descr="классификация деталей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3" y="1263370"/>
            <a:ext cx="8280920" cy="5067428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1125</Words>
  <Application>Microsoft Office PowerPoint</Application>
  <PresentationFormat>Экран (4:3)</PresentationFormat>
  <Paragraphs>172</Paragraphs>
  <Slides>29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Тема Office</vt:lpstr>
      <vt:lpstr> Машина, сборочная единица, деталь. Основные требования, предъявляемые к сборочным единицам и деталям. Классификация деталей машин.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Классификация деталей машин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Nastya</dc:creator>
  <cp:lastModifiedBy>mtest</cp:lastModifiedBy>
  <cp:revision>28</cp:revision>
  <dcterms:created xsi:type="dcterms:W3CDTF">2015-03-05T02:01:40Z</dcterms:created>
  <dcterms:modified xsi:type="dcterms:W3CDTF">2015-03-05T07:19:56Z</dcterms:modified>
</cp:coreProperties>
</file>